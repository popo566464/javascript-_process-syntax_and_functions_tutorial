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5"/>
  </p:notesMasterIdLst>
  <p:sldIdLst>
    <p:sldId id="258" r:id="rId2"/>
    <p:sldId id="267" r:id="rId3"/>
    <p:sldId id="264" r:id="rId4"/>
    <p:sldId id="268" r:id="rId5"/>
    <p:sldId id="304" r:id="rId6"/>
    <p:sldId id="273" r:id="rId7"/>
    <p:sldId id="271" r:id="rId8"/>
    <p:sldId id="303" r:id="rId9"/>
    <p:sldId id="311" r:id="rId10"/>
    <p:sldId id="312" r:id="rId11"/>
    <p:sldId id="300" r:id="rId12"/>
    <p:sldId id="301" r:id="rId13"/>
    <p:sldId id="305" r:id="rId14"/>
    <p:sldId id="313" r:id="rId15"/>
    <p:sldId id="314" r:id="rId16"/>
    <p:sldId id="316" r:id="rId17"/>
    <p:sldId id="306" r:id="rId18"/>
    <p:sldId id="310" r:id="rId19"/>
    <p:sldId id="307" r:id="rId20"/>
    <p:sldId id="308" r:id="rId21"/>
    <p:sldId id="309" r:id="rId22"/>
    <p:sldId id="317" r:id="rId23"/>
    <p:sldId id="318" r:id="rId24"/>
  </p:sldIdLst>
  <p:sldSz cx="6858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F72E4EA-7B87-4AEC-B972-1AE273A4B81A}">
          <p14:sldIdLst>
            <p14:sldId id="258"/>
            <p14:sldId id="267"/>
            <p14:sldId id="264"/>
            <p14:sldId id="268"/>
            <p14:sldId id="304"/>
            <p14:sldId id="273"/>
            <p14:sldId id="271"/>
            <p14:sldId id="303"/>
            <p14:sldId id="311"/>
            <p14:sldId id="312"/>
            <p14:sldId id="300"/>
            <p14:sldId id="301"/>
            <p14:sldId id="305"/>
            <p14:sldId id="313"/>
            <p14:sldId id="314"/>
            <p14:sldId id="316"/>
            <p14:sldId id="306"/>
            <p14:sldId id="310"/>
            <p14:sldId id="307"/>
            <p14:sldId id="308"/>
            <p14:sldId id="309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40"/>
    <a:srgbClr val="009A46"/>
    <a:srgbClr val="F17C69"/>
    <a:srgbClr val="FF3300"/>
    <a:srgbClr val="0076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56" autoAdjust="0"/>
  </p:normalViewPr>
  <p:slideViewPr>
    <p:cSldViewPr>
      <p:cViewPr varScale="1">
        <p:scale>
          <a:sx n="116" d="100"/>
          <a:sy n="116" d="100"/>
        </p:scale>
        <p:origin x="1325" y="67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E2EF8-1D33-4847-BD22-7061247669A4}" type="datetimeFigureOut">
              <a:rPr lang="zh-TW" altLang="en-US" smtClean="0"/>
              <a:t>2021/3/9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B56A6-7D0C-4DB1-A629-03C237B527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30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4477941"/>
            <a:ext cx="6858000" cy="665559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5" name="矩形 4"/>
          <p:cNvSpPr/>
          <p:nvPr/>
        </p:nvSpPr>
        <p:spPr>
          <a:xfrm>
            <a:off x="-7144" y="4539854"/>
            <a:ext cx="1687116" cy="53459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1769269" y="4532710"/>
            <a:ext cx="5088731" cy="53578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32863" y="1491630"/>
            <a:ext cx="4392274" cy="1371600"/>
          </a:xfrm>
        </p:spPr>
        <p:txBody>
          <a:bodyPr anchor="ctr"/>
          <a:lstStyle>
            <a:lvl1pPr algn="ctr">
              <a:defRPr cap="all" baseline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560320" y="4537528"/>
            <a:ext cx="4240530" cy="514350"/>
          </a:xfrm>
        </p:spPr>
        <p:txBody>
          <a:bodyPr anchor="ctr">
            <a:normAutofit/>
          </a:bodyPr>
          <a:lstStyle>
            <a:lvl1pPr marL="0" indent="0" algn="l">
              <a:buNone/>
              <a:defRPr sz="1950">
                <a:solidFill>
                  <a:srgbClr val="FFFFFF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TW" altLang="en-US" dirty="0"/>
              <a:t>按一下以編輯母片副標題樣式</a:t>
            </a:r>
            <a:endParaRPr lang="en-US" dirty="0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57150" y="4551760"/>
            <a:ext cx="1543050" cy="514350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5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10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1237298" y="195486"/>
            <a:ext cx="4400550" cy="273844"/>
          </a:xfr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12" name="文字方塊 1">
            <a:extLst>
              <a:ext uri="{FF2B5EF4-FFF2-40B4-BE49-F238E27FC236}">
                <a16:creationId xmlns:a16="http://schemas.microsoft.com/office/drawing/2014/main" id="{ED047054-D01D-4E55-B027-28E3BECF14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3580771"/>
            <a:ext cx="6858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+mn-ea"/>
                <a:ea typeface="+mn-ea"/>
              </a:rPr>
              <a:t>國立雲林科技大學</a:t>
            </a:r>
            <a:endParaRPr lang="en-US" altLang="zh-TW" sz="2000" dirty="0">
              <a:latin typeface="+mn-ea"/>
              <a:ea typeface="+mn-ea"/>
            </a:endParaRPr>
          </a:p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TW" altLang="en-US" sz="2000" dirty="0">
                <a:latin typeface="+mn-ea"/>
                <a:ea typeface="+mn-ea"/>
              </a:rPr>
              <a:t>王照明老師</a:t>
            </a:r>
          </a:p>
        </p:txBody>
      </p:sp>
      <p:sp>
        <p:nvSpPr>
          <p:cNvPr id="13" name="文字方塊 1">
            <a:extLst>
              <a:ext uri="{FF2B5EF4-FFF2-40B4-BE49-F238E27FC236}">
                <a16:creationId xmlns:a16="http://schemas.microsoft.com/office/drawing/2014/main" id="{419566E3-9171-4988-80CD-963EB5B730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64020" y="4605473"/>
            <a:ext cx="7963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微軟正黑體" panose="020B0604030504040204" pitchFamily="34" charset="-120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000" dirty="0">
                <a:latin typeface="+mn-ea"/>
                <a:ea typeface="+mn-ea"/>
              </a:rPr>
              <a:t>助教：</a:t>
            </a:r>
          </a:p>
        </p:txBody>
      </p:sp>
    </p:spTree>
    <p:extLst>
      <p:ext uri="{BB962C8B-B14F-4D97-AF65-F5344CB8AC3E}">
        <p14:creationId xmlns:p14="http://schemas.microsoft.com/office/powerpoint/2010/main" val="1374161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9486" y="171450"/>
            <a:ext cx="6115050" cy="74295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9486" y="1200150"/>
            <a:ext cx="6115050" cy="33718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0"/>
          </p:nvPr>
        </p:nvSpPr>
        <p:spPr>
          <a:xfrm>
            <a:off x="1484784" y="4914900"/>
            <a:ext cx="4065985" cy="182569"/>
          </a:xfrm>
        </p:spPr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1"/>
          </p:nvPr>
        </p:nvSpPr>
        <p:spPr>
          <a:xfrm>
            <a:off x="3316986" y="4731544"/>
            <a:ext cx="400050" cy="183356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8B1F3F81-B14A-46F6-8DE3-A694209316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7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143000"/>
            <a:ext cx="6858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5" name="矩形 4"/>
          <p:cNvSpPr/>
          <p:nvPr/>
        </p:nvSpPr>
        <p:spPr>
          <a:xfrm>
            <a:off x="0" y="1200150"/>
            <a:ext cx="97155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1028700" y="1200150"/>
            <a:ext cx="58293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28700" y="2057400"/>
            <a:ext cx="5342335" cy="1254919"/>
          </a:xfrm>
        </p:spPr>
        <p:txBody>
          <a:bodyPr/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28700" y="1200150"/>
            <a:ext cx="5715000" cy="742950"/>
          </a:xfrm>
        </p:spPr>
        <p:txBody>
          <a:bodyPr/>
          <a:lstStyle>
            <a:lvl1pPr algn="l">
              <a:buNone/>
              <a:defRPr sz="3300" b="0" cap="none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投影片編號版面配置區 12"/>
          <p:cNvSpPr>
            <a:spLocks noGrp="1"/>
          </p:cNvSpPr>
          <p:nvPr>
            <p:ph type="sldNum" sz="quarter" idx="10"/>
          </p:nvPr>
        </p:nvSpPr>
        <p:spPr>
          <a:xfrm>
            <a:off x="0" y="1314451"/>
            <a:ext cx="971550" cy="526256"/>
          </a:xfrm>
        </p:spPr>
        <p:txBody>
          <a:bodyPr>
            <a:noAutofit/>
          </a:bodyPr>
          <a:lstStyle>
            <a:lvl1pPr>
              <a:defRPr sz="1800" smtClean="0"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頁尾版面配置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國立雲林科技大學 互動多媒體設計實驗室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25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192175"/>
            <a:ext cx="2914650" cy="3429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3633676" y="1192175"/>
            <a:ext cx="2914650" cy="3429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A6BB9F5-2E8E-4E72-9583-D2F961C7A6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7882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00050" y="204787"/>
            <a:ext cx="6115050" cy="652463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1828800"/>
            <a:ext cx="2914650" cy="26860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3600450" y="1828800"/>
            <a:ext cx="2914650" cy="26860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"/>
          </p:nvPr>
        </p:nvSpPr>
        <p:spPr>
          <a:xfrm>
            <a:off x="457200" y="1314450"/>
            <a:ext cx="2914650" cy="48006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3"/>
          </p:nvPr>
        </p:nvSpPr>
        <p:spPr>
          <a:xfrm>
            <a:off x="3600450" y="1314450"/>
            <a:ext cx="2914650" cy="48006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8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3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1"/>
          </p:nvPr>
        </p:nvSpPr>
        <p:spPr>
          <a:xfrm>
            <a:off x="0" y="4686300"/>
            <a:ext cx="400050" cy="28575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6057900" cy="652463"/>
          </a:xfrm>
        </p:spPr>
        <p:txBody>
          <a:bodyPr/>
          <a:lstStyle>
            <a:lvl1pPr algn="l">
              <a:buNone/>
              <a:defRPr sz="33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314450"/>
            <a:ext cx="1200150" cy="325755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750"/>
              </a:spcAft>
              <a:buNone/>
              <a:defRPr sz="135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1771650" y="1314450"/>
            <a:ext cx="4800600" cy="33147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2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7144" y="3429000"/>
            <a:ext cx="6858000" cy="66556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-7143" y="3498056"/>
            <a:ext cx="1097756" cy="53459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7" name="矩形 6"/>
          <p:cNvSpPr/>
          <p:nvPr/>
        </p:nvSpPr>
        <p:spPr>
          <a:xfrm>
            <a:off x="1158478" y="3490913"/>
            <a:ext cx="5699522" cy="53459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8" name="矩形 7"/>
          <p:cNvSpPr/>
          <p:nvPr/>
        </p:nvSpPr>
        <p:spPr bwMode="white">
          <a:xfrm>
            <a:off x="1085850" y="0"/>
            <a:ext cx="75010" cy="51506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00150" y="4114800"/>
            <a:ext cx="5486400" cy="514350"/>
          </a:xfrm>
        </p:spPr>
        <p:txBody>
          <a:bodyPr/>
          <a:lstStyle>
            <a:lvl1pPr marL="0" indent="0">
              <a:buFontTx/>
              <a:buNone/>
              <a:defRPr sz="1275"/>
            </a:lvl1pPr>
            <a:lvl2pPr>
              <a:buFontTx/>
              <a:buNone/>
              <a:defRPr sz="900"/>
            </a:lvl2pPr>
            <a:lvl3pPr>
              <a:buFontTx/>
              <a:buNone/>
              <a:defRPr sz="750"/>
            </a:lvl3pPr>
            <a:lvl4pPr>
              <a:buFontTx/>
              <a:buNone/>
              <a:defRPr sz="675"/>
            </a:lvl4pPr>
            <a:lvl5pPr>
              <a:buFontTx/>
              <a:buNone/>
              <a:defRPr sz="675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00150" y="3486150"/>
            <a:ext cx="5486400" cy="514350"/>
          </a:xfrm>
        </p:spPr>
        <p:txBody>
          <a:bodyPr/>
          <a:lstStyle>
            <a:lvl1pPr algn="l">
              <a:buNone/>
              <a:defRPr sz="21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170432" y="0"/>
            <a:ext cx="5687568" cy="3426714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9" name="日期版面配置區 11"/>
          <p:cNvSpPr>
            <a:spLocks noGrp="1"/>
          </p:cNvSpPr>
          <p:nvPr>
            <p:ph type="dt" sz="half" idx="10"/>
          </p:nvPr>
        </p:nvSpPr>
        <p:spPr>
          <a:xfrm>
            <a:off x="4686300" y="4686300"/>
            <a:ext cx="2000250" cy="273844"/>
          </a:xfrm>
          <a:prstGeom prst="rect">
            <a:avLst/>
          </a:prstGeom>
        </p:spPr>
        <p:txBody>
          <a:bodyPr vert="horz" rtlCol="0" anchor="ctr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05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10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3500438"/>
            <a:ext cx="1085850" cy="497681"/>
          </a:xfrm>
        </p:spPr>
        <p:txBody>
          <a:bodyPr/>
          <a:lstStyle>
            <a:lvl1pPr>
              <a:defRPr sz="2100" smtClean="0"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頁尾版面配置區 13"/>
          <p:cNvSpPr>
            <a:spLocks noGrp="1"/>
          </p:cNvSpPr>
          <p:nvPr>
            <p:ph type="ftr" sz="quarter" idx="12"/>
          </p:nvPr>
        </p:nvSpPr>
        <p:spPr>
          <a:xfrm>
            <a:off x="1200150" y="4686300"/>
            <a:ext cx="3429000" cy="27384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國立雲林科技大學 互動多媒體設計實驗室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48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7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4572001" y="0"/>
            <a:ext cx="240506" cy="5143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5" name="矩形 4"/>
          <p:cNvSpPr/>
          <p:nvPr/>
        </p:nvSpPr>
        <p:spPr>
          <a:xfrm>
            <a:off x="4606529" y="457200"/>
            <a:ext cx="171450" cy="46863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6" name="矩形 5"/>
          <p:cNvSpPr/>
          <p:nvPr/>
        </p:nvSpPr>
        <p:spPr>
          <a:xfrm>
            <a:off x="4606529" y="0"/>
            <a:ext cx="171450" cy="40005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4914900" y="457201"/>
            <a:ext cx="1543050" cy="413742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42900" y="457200"/>
            <a:ext cx="4171950" cy="413742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914900" y="4686300"/>
            <a:ext cx="1657350" cy="273844"/>
          </a:xfrm>
          <a:prstGeom prst="rect">
            <a:avLst/>
          </a:prstGeom>
        </p:spPr>
        <p:txBody>
          <a:bodyPr vert="horz" anchor="ctr" anchorCtr="0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05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42900" y="4686300"/>
            <a:ext cx="4180285" cy="273844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>
          <a:xfrm rot="5400000">
            <a:off x="4492229" y="108347"/>
            <a:ext cx="400050" cy="183356"/>
          </a:xfrm>
        </p:spPr>
        <p:txBody>
          <a:bodyPr/>
          <a:lstStyle>
            <a:lvl1pPr>
              <a:defRPr smtClean="0"/>
            </a:lvl1pPr>
          </a:lstStyle>
          <a:p>
            <a:fld id="{8B1F3F81-B14A-46F6-8DE3-A6942093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87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457200" y="171450"/>
            <a:ext cx="611505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459581" y="1200151"/>
            <a:ext cx="611505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1481732" y="4914900"/>
            <a:ext cx="4065985" cy="2286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50">
                <a:solidFill>
                  <a:schemeClr val="tx2"/>
                </a:solidFill>
                <a:latin typeface="Tw Cen MT" pitchFamily="34" charset="0"/>
                <a:ea typeface="微軟正黑體" pitchFamily="34" charset="-120"/>
              </a:defRPr>
            </a:lvl1pPr>
          </a:lstStyle>
          <a:p>
            <a:pPr algn="ctr"/>
            <a:r>
              <a:rPr lang="zh-TW" altLang="en-US" dirty="0"/>
              <a:t>國立雲林科技大學 互動多媒體設計實驗室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926306"/>
            <a:ext cx="6858000" cy="23931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8" name="矩形 7"/>
          <p:cNvSpPr/>
          <p:nvPr/>
        </p:nvSpPr>
        <p:spPr>
          <a:xfrm>
            <a:off x="0" y="959644"/>
            <a:ext cx="40005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9" name="矩形 8"/>
          <p:cNvSpPr/>
          <p:nvPr/>
        </p:nvSpPr>
        <p:spPr>
          <a:xfrm>
            <a:off x="442912" y="959644"/>
            <a:ext cx="6415088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sz="135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3314700" y="4731544"/>
            <a:ext cx="400050" cy="18335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050" b="1" smtClean="0">
                <a:solidFill>
                  <a:schemeClr val="accent5">
                    <a:lumMod val="75000"/>
                  </a:schemeClr>
                </a:solidFill>
                <a:latin typeface="Candara" panose="020E0502030303020204" pitchFamily="34" charset="0"/>
                <a:ea typeface="微軟正黑體" panose="020B0604030504040204" pitchFamily="34" charset="-120"/>
              </a:defRPr>
            </a:lvl1pPr>
          </a:lstStyle>
          <a:p>
            <a:fld id="{8B1F3F81-B14A-46F6-8DE3-A694209316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8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  <a:ea typeface="微軟正黑體" pitchFamily="34" charset="-120"/>
        </a:defRPr>
      </a:lvl9pPr>
    </p:titleStyle>
    <p:bodyStyle>
      <a:lvl1pPr marL="239316" indent="-239316" algn="l" rtl="0" eaLnBrk="1" fontAlgn="base" hangingPunct="1">
        <a:spcBef>
          <a:spcPts val="525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204788" algn="l" rtl="0" eaLnBrk="1" fontAlgn="base" hangingPunct="1">
        <a:spcBef>
          <a:spcPts val="413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rtl="0" eaLnBrk="1" fontAlgn="base" hangingPunct="1">
        <a:spcBef>
          <a:spcPts val="375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171450" algn="l" rtl="0" eaLnBrk="1" fontAlgn="base" hangingPunct="1">
        <a:spcBef>
          <a:spcPts val="3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71450" algn="l" rtl="0" eaLnBrk="1" fontAlgn="base" hangingPunct="1">
        <a:spcBef>
          <a:spcPts val="3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577340" indent="-17145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7145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7145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7145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D838E-6FA1-474B-A6A2-E9A565B47B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流程語法與函式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D4BE159-F324-4FF4-AD61-0FA79E747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/>
              <a:t>徐偉智、李柏廷、李亭儀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2F33159-AD8C-43B0-BF50-7D217DEED624}"/>
              </a:ext>
            </a:extLst>
          </p:cNvPr>
          <p:cNvSpPr txBox="1"/>
          <p:nvPr/>
        </p:nvSpPr>
        <p:spPr>
          <a:xfrm>
            <a:off x="0" y="3146381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邏輯分析與程式設計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8CBA0E-20A4-48E7-BCED-94E5201C6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615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8987BA-0376-4EB1-9B8B-449471D9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函數的基礎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3D53B3-C002-44F5-861C-4933C417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21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基礎說明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dirty="0">
                <a:latin typeface="微軟正黑體" panose="020B0604030504040204" pitchFamily="34" charset="-120"/>
              </a:rPr>
              <a:t>JavaScript</a:t>
            </a:r>
            <a:r>
              <a:rPr lang="zh-TW" altLang="en-US" sz="1800" dirty="0">
                <a:latin typeface="微軟正黑體" panose="020B0604030504040204" pitchFamily="34" charset="-120"/>
              </a:rPr>
              <a:t>函式是將程式中一些共用程式碼獨立成程式區塊，能夠重複呼叫來傳入參數和傳回執行結果，事實上，</a:t>
            </a:r>
            <a:r>
              <a:rPr lang="en-US" altLang="zh-TW" sz="1800" dirty="0">
                <a:latin typeface="微軟正黑體" panose="020B0604030504040204" pitchFamily="34" charset="-120"/>
              </a:rPr>
              <a:t>JavaScript</a:t>
            </a:r>
            <a:r>
              <a:rPr lang="zh-TW" altLang="en-US" sz="1800" dirty="0">
                <a:latin typeface="微軟正黑體" panose="020B0604030504040204" pitchFamily="34" charset="-120"/>
              </a:rPr>
              <a:t>資料型態都是一種物件，函式也是。</a:t>
            </a:r>
            <a:endParaRPr lang="en-US" altLang="zh-TW" sz="1800" dirty="0">
              <a:latin typeface="微軟正黑體" panose="020B0604030504040204" pitchFamily="34" charset="-120"/>
            </a:endParaRPr>
          </a:p>
          <a:p>
            <a:r>
              <a:rPr lang="zh-TW" altLang="en-US" sz="1800" dirty="0">
                <a:latin typeface="微軟正黑體" panose="020B0604030504040204" pitchFamily="34" charset="-120"/>
              </a:rPr>
              <a:t>「函式」（</a:t>
            </a:r>
            <a:r>
              <a:rPr lang="en-US" altLang="zh-TW" sz="1800" dirty="0">
                <a:latin typeface="微軟正黑體" panose="020B0604030504040204" pitchFamily="34" charset="-120"/>
              </a:rPr>
              <a:t>Functions</a:t>
            </a:r>
            <a:r>
              <a:rPr lang="zh-TW" altLang="en-US" sz="1800" dirty="0">
                <a:latin typeface="微軟正黑體" panose="020B0604030504040204" pitchFamily="34" charset="-120"/>
              </a:rPr>
              <a:t>）是將程式中常用的共同程式碼獨立成程式區塊，以便能夠重複呼叫這些函式的程式碼。一般來說，函式都有傳回值，如果函式沒有傳回值，稱為「程序」（</a:t>
            </a:r>
            <a:r>
              <a:rPr lang="en-US" altLang="zh-TW" sz="1800" dirty="0">
                <a:latin typeface="微軟正黑體" panose="020B0604030504040204" pitchFamily="34" charset="-120"/>
              </a:rPr>
              <a:t>Procedures</a:t>
            </a:r>
            <a:r>
              <a:rPr lang="zh-TW" altLang="en-US" sz="1800" dirty="0">
                <a:latin typeface="微軟正黑體" panose="020B0604030504040204" pitchFamily="34" charset="-120"/>
              </a:rPr>
              <a:t>）。</a:t>
            </a:r>
          </a:p>
          <a:p>
            <a:pPr marL="0" indent="0">
              <a:buNone/>
            </a:pP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562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函數是一個黑盒子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2E42E6C-F7F3-41D6-9E29-26E08B169D6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600" dirty="0"/>
              <a:t>在</a:t>
            </a:r>
            <a:r>
              <a:rPr lang="en-US" altLang="zh-TW" sz="1600" dirty="0"/>
              <a:t>JavaScript</a:t>
            </a:r>
            <a:r>
              <a:rPr lang="zh-TW" altLang="en-US" sz="1600" dirty="0"/>
              <a:t>程式中執行函數稱為「函數呼叫」（</a:t>
            </a:r>
            <a:r>
              <a:rPr lang="en-US" altLang="zh-TW" sz="1600" dirty="0"/>
              <a:t>Functions Call</a:t>
            </a:r>
            <a:r>
              <a:rPr lang="zh-TW" altLang="en-US" sz="1600" dirty="0"/>
              <a:t>），我們並不需要了解函數內部實際的程式碼，事實上，也不想知道其細節，函數如同是一個「黑盒子」（</a:t>
            </a:r>
            <a:r>
              <a:rPr lang="en-US" altLang="zh-TW" sz="1600" dirty="0"/>
              <a:t>Black Box</a:t>
            </a:r>
            <a:r>
              <a:rPr lang="zh-TW" altLang="en-US" sz="1600" dirty="0"/>
              <a:t>），只要告訴我們如何使用這個黑盒子的「使用介面」（</a:t>
            </a:r>
            <a:r>
              <a:rPr lang="en-US" altLang="zh-TW" sz="1600" dirty="0"/>
              <a:t>Interface</a:t>
            </a:r>
            <a:r>
              <a:rPr lang="zh-TW" altLang="en-US" sz="1600" dirty="0"/>
              <a:t>）即可，如下圖所示：</a:t>
            </a:r>
          </a:p>
          <a:p>
            <a:endParaRPr lang="zh-TW" altLang="en-US" sz="1600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71CC04A-942B-43FA-8B43-9810028D8457}"/>
              </a:ext>
            </a:extLst>
          </p:cNvPr>
          <p:cNvSpPr/>
          <p:nvPr/>
        </p:nvSpPr>
        <p:spPr>
          <a:xfrm>
            <a:off x="1340768" y="3219822"/>
            <a:ext cx="1512168" cy="3600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黑盒子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B58F6EF-1F7D-4B70-8CD4-5A3D2DE49632}"/>
              </a:ext>
            </a:extLst>
          </p:cNvPr>
          <p:cNvSpPr/>
          <p:nvPr/>
        </p:nvSpPr>
        <p:spPr>
          <a:xfrm>
            <a:off x="4221088" y="3210111"/>
            <a:ext cx="1440160" cy="3600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程式碼呼叫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A78D4334-93C7-4FC1-ADFC-31406139F06E}"/>
              </a:ext>
            </a:extLst>
          </p:cNvPr>
          <p:cNvCxnSpPr/>
          <p:nvPr/>
        </p:nvCxnSpPr>
        <p:spPr>
          <a:xfrm flipH="1">
            <a:off x="2852936" y="3291830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70897303-B668-4D29-9B1F-481BF74961F1}"/>
              </a:ext>
            </a:extLst>
          </p:cNvPr>
          <p:cNvCxnSpPr>
            <a:cxnSpLocks/>
          </p:cNvCxnSpPr>
          <p:nvPr/>
        </p:nvCxnSpPr>
        <p:spPr>
          <a:xfrm>
            <a:off x="2850964" y="3501027"/>
            <a:ext cx="1370124" cy="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83D3D77-2C23-4EC9-9185-3E1257819B04}"/>
              </a:ext>
            </a:extLst>
          </p:cNvPr>
          <p:cNvSpPr txBox="1"/>
          <p:nvPr/>
        </p:nvSpPr>
        <p:spPr>
          <a:xfrm>
            <a:off x="3095155" y="304572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傳入參數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EDED0D8-7C33-417E-9555-9F183F7474E6}"/>
              </a:ext>
            </a:extLst>
          </p:cNvPr>
          <p:cNvSpPr txBox="1"/>
          <p:nvPr/>
        </p:nvSpPr>
        <p:spPr>
          <a:xfrm>
            <a:off x="3189739" y="348159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傳回值</a:t>
            </a:r>
          </a:p>
        </p:txBody>
      </p:sp>
    </p:spTree>
    <p:extLst>
      <p:ext uri="{BB962C8B-B14F-4D97-AF65-F5344CB8AC3E}">
        <p14:creationId xmlns:p14="http://schemas.microsoft.com/office/powerpoint/2010/main" val="378871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基礎說明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微軟正黑體" panose="020B0604030504040204" pitchFamily="34" charset="-120"/>
              </a:rPr>
              <a:t>「函式」指的是將一或多段程式指令包裝起來，可以重複使用，也方便維護。宣告函式的方法有好幾種，但不管是什麼方式，通常一個函式會包含三個部分：</a:t>
            </a:r>
          </a:p>
          <a:p>
            <a:pPr marL="617934" lvl="1" indent="-342900">
              <a:buFont typeface="+mj-lt"/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</a:rPr>
              <a:t>函式的名稱。</a:t>
            </a:r>
            <a:endParaRPr lang="en-US" altLang="zh-TW" sz="1600" dirty="0">
              <a:latin typeface="微軟正黑體" panose="020B0604030504040204" pitchFamily="34" charset="-120"/>
            </a:endParaRPr>
          </a:p>
          <a:p>
            <a:pPr marL="617934" lvl="1" indent="-342900">
              <a:buFont typeface="+mj-lt"/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</a:rPr>
              <a:t>在括號 </a:t>
            </a:r>
            <a:r>
              <a:rPr lang="en-US" altLang="zh-TW" sz="1600" dirty="0">
                <a:latin typeface="微軟正黑體" panose="020B0604030504040204" pitchFamily="34" charset="-120"/>
              </a:rPr>
              <a:t>( ) </a:t>
            </a:r>
            <a:r>
              <a:rPr lang="zh-TW" altLang="en-US" sz="1600" dirty="0">
                <a:latin typeface="微軟正黑體" panose="020B0604030504040204" pitchFamily="34" charset="-120"/>
              </a:rPr>
              <a:t>中的部分，稱為「參數 </a:t>
            </a:r>
            <a:r>
              <a:rPr lang="en-US" altLang="zh-TW" sz="1600" dirty="0">
                <a:latin typeface="微軟正黑體" panose="020B0604030504040204" pitchFamily="34" charset="-120"/>
              </a:rPr>
              <a:t>(arguments) </a:t>
            </a:r>
            <a:r>
              <a:rPr lang="zh-TW" altLang="en-US" sz="1600" dirty="0">
                <a:latin typeface="微軟正黑體" panose="020B0604030504040204" pitchFamily="34" charset="-120"/>
              </a:rPr>
              <a:t>」，參數與參數之間會用逗號隔開。</a:t>
            </a:r>
          </a:p>
          <a:p>
            <a:pPr marL="617934" lvl="1" indent="-342900">
              <a:buFont typeface="+mj-lt"/>
              <a:buAutoNum type="arabicPeriod"/>
            </a:pPr>
            <a:r>
              <a:rPr lang="zh-TW" altLang="en-US" sz="1600" dirty="0">
                <a:latin typeface="微軟正黑體" panose="020B0604030504040204" pitchFamily="34" charset="-120"/>
              </a:rPr>
              <a:t>在大括號 </a:t>
            </a:r>
            <a:r>
              <a:rPr lang="en-US" altLang="zh-TW" sz="1600" dirty="0">
                <a:latin typeface="微軟正黑體" panose="020B0604030504040204" pitchFamily="34" charset="-120"/>
              </a:rPr>
              <a:t>{ } </a:t>
            </a:r>
            <a:r>
              <a:rPr lang="zh-TW" altLang="en-US" sz="1600" dirty="0">
                <a:latin typeface="微軟正黑體" panose="020B0604030504040204" pitchFamily="34" charset="-120"/>
              </a:rPr>
              <a:t>內的部分，內含需要重複執行的內容，是函式功能的主要區塊。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91B5E-A4AA-4D4C-860F-E95980E6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8"/>
            <a:ext cx="184731" cy="421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62AE1F-D7C2-4163-A445-4185C3685F9B}"/>
              </a:ext>
            </a:extLst>
          </p:cNvPr>
          <p:cNvSpPr/>
          <p:nvPr/>
        </p:nvSpPr>
        <p:spPr>
          <a:xfrm>
            <a:off x="1166912" y="3630650"/>
            <a:ext cx="2232248" cy="625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>
                <a:solidFill>
                  <a:schemeClr val="tx1"/>
                </a:solidFill>
              </a:rPr>
              <a:t>function </a:t>
            </a:r>
            <a:r>
              <a:rPr lang="zh-TW" altLang="en-US" sz="1200">
                <a:solidFill>
                  <a:schemeClr val="tx1"/>
                </a:solidFill>
              </a:rPr>
              <a:t>名稱</a:t>
            </a:r>
            <a:r>
              <a:rPr lang="en-US" altLang="zh-TW" sz="1200">
                <a:solidFill>
                  <a:schemeClr val="tx1"/>
                </a:solidFill>
              </a:rPr>
              <a:t>([</a:t>
            </a:r>
            <a:r>
              <a:rPr lang="zh-TW" altLang="en-US" sz="1200">
                <a:solidFill>
                  <a:schemeClr val="tx1"/>
                </a:solidFill>
              </a:rPr>
              <a:t>參數</a:t>
            </a:r>
            <a:r>
              <a:rPr lang="en-US" altLang="zh-TW" sz="1200">
                <a:solidFill>
                  <a:schemeClr val="tx1"/>
                </a:solidFill>
              </a:rPr>
              <a:t>]) {</a:t>
            </a:r>
          </a:p>
          <a:p>
            <a:r>
              <a:rPr lang="en-US" altLang="zh-TW" sz="1200">
                <a:solidFill>
                  <a:schemeClr val="tx1"/>
                </a:solidFill>
              </a:rPr>
              <a:t>  // </a:t>
            </a:r>
            <a:r>
              <a:rPr lang="zh-TW" altLang="en-US" sz="1200">
                <a:solidFill>
                  <a:schemeClr val="tx1"/>
                </a:solidFill>
              </a:rPr>
              <a:t>做某事</a:t>
            </a:r>
          </a:p>
          <a:p>
            <a:r>
              <a:rPr lang="en-US" altLang="zh-TW" sz="1200">
                <a:solidFill>
                  <a:schemeClr val="tx1"/>
                </a:solidFill>
              </a:rPr>
              <a:t>}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1E39F8-9F7C-4AFB-98FE-BFF352D4D11E}"/>
              </a:ext>
            </a:extLst>
          </p:cNvPr>
          <p:cNvSpPr/>
          <p:nvPr/>
        </p:nvSpPr>
        <p:spPr>
          <a:xfrm>
            <a:off x="3933056" y="3630650"/>
            <a:ext cx="2232248" cy="625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function </a:t>
            </a:r>
            <a:r>
              <a:rPr lang="en-US" altLang="zh-TW" sz="1200" dirty="0" err="1">
                <a:solidFill>
                  <a:schemeClr val="tx1"/>
                </a:solidFill>
              </a:rPr>
              <a:t>abc</a:t>
            </a:r>
            <a:r>
              <a:rPr lang="en-US" altLang="zh-TW" sz="1200" dirty="0">
                <a:solidFill>
                  <a:schemeClr val="tx1"/>
                </a:solidFill>
              </a:rPr>
              <a:t>(number)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return number * number;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}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87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D58987BA-0376-4EB1-9B8B-449471D9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建立涵式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3D53B3-C002-44F5-861C-4933C417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zh-TW" altLang="en-US" dirty="0"/>
              <a:t>國立雲林科技大學 互動多媒體設計實驗室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2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/>
              <a:t>JavaScript</a:t>
            </a:r>
            <a:r>
              <a:rPr lang="zh-TW" altLang="en-US" sz="2800" dirty="0"/>
              <a:t>自訂函式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TW" altLang="en-US" sz="1600" dirty="0">
                <a:latin typeface="微軟正黑體" panose="020B0604030504040204" pitchFamily="34" charset="-120"/>
              </a:rPr>
              <a:t>函式使用</a:t>
            </a:r>
            <a:r>
              <a:rPr lang="en-US" altLang="zh-TW" sz="1600" dirty="0">
                <a:latin typeface="微軟正黑體" panose="020B0604030504040204" pitchFamily="34" charset="-120"/>
              </a:rPr>
              <a:t>function</a:t>
            </a:r>
            <a:r>
              <a:rPr lang="zh-TW" altLang="en-US" sz="1600" dirty="0">
                <a:latin typeface="微軟正黑體" panose="020B0604030504040204" pitchFamily="34" charset="-120"/>
              </a:rPr>
              <a:t>關鍵字宣告，名稱為</a:t>
            </a:r>
            <a:r>
              <a:rPr lang="en-US" altLang="zh-TW" sz="1600" dirty="0" err="1">
                <a:latin typeface="微軟正黑體" panose="020B0604030504040204" pitchFamily="34" charset="-120"/>
              </a:rPr>
              <a:t>abc</a:t>
            </a:r>
            <a:r>
              <a:rPr lang="zh-TW" altLang="en-US" sz="1600" dirty="0">
                <a:latin typeface="微軟正黑體" panose="020B0604030504040204" pitchFamily="34" charset="-120"/>
              </a:rPr>
              <a:t>，在括號定義傳入函式的參數，此函式並沒有參數，在「</a:t>
            </a:r>
            <a:r>
              <a:rPr lang="en-US" altLang="zh-TW" sz="1600" dirty="0">
                <a:latin typeface="微軟正黑體" panose="020B0604030504040204" pitchFamily="34" charset="-120"/>
              </a:rPr>
              <a:t>{</a:t>
            </a:r>
            <a:r>
              <a:rPr lang="zh-TW" altLang="en-US" sz="1600" dirty="0">
                <a:latin typeface="微軟正黑體" panose="020B0604030504040204" pitchFamily="34" charset="-120"/>
              </a:rPr>
              <a:t>」和「</a:t>
            </a:r>
            <a:r>
              <a:rPr lang="en-US" altLang="zh-TW" sz="1600" dirty="0">
                <a:latin typeface="微軟正黑體" panose="020B0604030504040204" pitchFamily="34" charset="-120"/>
              </a:rPr>
              <a:t>}</a:t>
            </a:r>
            <a:r>
              <a:rPr lang="zh-TW" altLang="en-US" sz="1600" dirty="0">
                <a:latin typeface="微軟正黑體" panose="020B0604030504040204" pitchFamily="34" charset="-120"/>
              </a:rPr>
              <a:t>」程式區塊內是函式的程式碼。因為函式沒有傳回值，所以呼叫函式只需使用函式名稱。</a:t>
            </a:r>
            <a:endParaRPr lang="en-US" altLang="zh-TW" sz="1600" dirty="0">
              <a:latin typeface="微軟正黑體" panose="020B0604030504040204" pitchFamily="34" charset="-120"/>
            </a:endParaRPr>
          </a:p>
          <a:p>
            <a:endParaRPr lang="en-US" altLang="zh-TW" sz="1600" dirty="0">
              <a:latin typeface="微軟正黑體" panose="020B0604030504040204" pitchFamily="34" charset="-120"/>
            </a:endParaRPr>
          </a:p>
          <a:p>
            <a:endParaRPr lang="en-US" altLang="zh-TW" sz="1600" dirty="0">
              <a:latin typeface="微軟正黑體" panose="020B0604030504040204" pitchFamily="34" charset="-120"/>
            </a:endParaRPr>
          </a:p>
          <a:p>
            <a:r>
              <a:rPr lang="en-US" altLang="zh-TW" sz="1600" dirty="0">
                <a:latin typeface="微軟正黑體" panose="020B0604030504040204" pitchFamily="34" charset="-120"/>
              </a:rPr>
              <a:t>JavaScript</a:t>
            </a:r>
            <a:r>
              <a:rPr lang="zh-TW" altLang="en-US" sz="1600" dirty="0">
                <a:latin typeface="微軟正黑體" panose="020B0604030504040204" pitchFamily="34" charset="-120"/>
              </a:rPr>
              <a:t>程式是如何執行函式，程式是呼叫</a:t>
            </a:r>
            <a:r>
              <a:rPr lang="en-US" altLang="zh-TW" sz="1600" dirty="0" err="1">
                <a:latin typeface="微軟正黑體" panose="020B0604030504040204" pitchFamily="34" charset="-120"/>
              </a:rPr>
              <a:t>abc</a:t>
            </a:r>
            <a:r>
              <a:rPr lang="en-US" altLang="zh-TW" sz="1600" dirty="0">
                <a:latin typeface="微軟正黑體" panose="020B0604030504040204" pitchFamily="34" charset="-120"/>
              </a:rPr>
              <a:t>()</a:t>
            </a:r>
            <a:r>
              <a:rPr lang="zh-TW" altLang="en-US" sz="1600" dirty="0">
                <a:latin typeface="微軟正黑體" panose="020B0604030504040204" pitchFamily="34" charset="-120"/>
              </a:rPr>
              <a:t>函式，此時程式碼執行順序就跳到</a:t>
            </a:r>
            <a:r>
              <a:rPr lang="en-US" altLang="zh-TW" sz="1600" dirty="0" err="1">
                <a:latin typeface="微軟正黑體" panose="020B0604030504040204" pitchFamily="34" charset="-120"/>
              </a:rPr>
              <a:t>abc</a:t>
            </a:r>
            <a:r>
              <a:rPr lang="en-US" altLang="zh-TW" sz="1600" dirty="0">
                <a:latin typeface="微軟正黑體" panose="020B0604030504040204" pitchFamily="34" charset="-120"/>
              </a:rPr>
              <a:t>()</a:t>
            </a:r>
            <a:r>
              <a:rPr lang="zh-TW" altLang="en-US" sz="1600" dirty="0">
                <a:latin typeface="微軟正黑體" panose="020B0604030504040204" pitchFamily="34" charset="-120"/>
              </a:rPr>
              <a:t>函式執行裡面內容。</a:t>
            </a:r>
            <a:endParaRPr lang="en-US" altLang="zh-TW" sz="1600" dirty="0">
              <a:latin typeface="微軟正黑體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0A01485-93BF-4B05-85CA-7B030439FC3C}"/>
              </a:ext>
            </a:extLst>
          </p:cNvPr>
          <p:cNvSpPr/>
          <p:nvPr/>
        </p:nvSpPr>
        <p:spPr>
          <a:xfrm>
            <a:off x="2204864" y="2139702"/>
            <a:ext cx="2808312" cy="625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function </a:t>
            </a:r>
            <a:r>
              <a:rPr lang="en-US" altLang="zh-TW" sz="1200" dirty="0" err="1">
                <a:solidFill>
                  <a:schemeClr val="tx1"/>
                </a:solidFill>
              </a:rPr>
              <a:t>abc</a:t>
            </a:r>
            <a:r>
              <a:rPr lang="en-US" altLang="zh-TW" sz="1200" dirty="0">
                <a:solidFill>
                  <a:schemeClr val="tx1"/>
                </a:solidFill>
              </a:rPr>
              <a:t>()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 err="1">
                <a:solidFill>
                  <a:schemeClr val="tx1"/>
                </a:solidFill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</a:rPr>
              <a:t>("</a:t>
            </a:r>
            <a:r>
              <a:rPr lang="zh-TW" altLang="en-US" sz="1200" dirty="0">
                <a:solidFill>
                  <a:schemeClr val="tx1"/>
                </a:solidFill>
              </a:rPr>
              <a:t>請輸入</a:t>
            </a:r>
            <a:r>
              <a:rPr lang="en-US" altLang="zh-TW" sz="1200" dirty="0">
                <a:solidFill>
                  <a:schemeClr val="tx1"/>
                </a:solidFill>
              </a:rPr>
              <a:t>100</a:t>
            </a:r>
            <a:r>
              <a:rPr lang="zh-TW" altLang="en-US" sz="1200" dirty="0">
                <a:solidFill>
                  <a:schemeClr val="tx1"/>
                </a:solidFill>
              </a:rPr>
              <a:t>以內的數字</a:t>
            </a:r>
            <a:r>
              <a:rPr lang="en-US" altLang="zh-TW" sz="1200" dirty="0">
                <a:solidFill>
                  <a:schemeClr val="tx1"/>
                </a:solidFill>
              </a:rPr>
              <a:t>");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}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DB8831-D441-4A07-AE82-C973E2F45C66}"/>
              </a:ext>
            </a:extLst>
          </p:cNvPr>
          <p:cNvSpPr/>
          <p:nvPr/>
        </p:nvSpPr>
        <p:spPr>
          <a:xfrm>
            <a:off x="3176624" y="3788904"/>
            <a:ext cx="2896671" cy="625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function </a:t>
            </a:r>
            <a:r>
              <a:rPr lang="en-US" altLang="zh-TW" sz="1200" dirty="0" err="1">
                <a:solidFill>
                  <a:schemeClr val="tx1"/>
                </a:solidFill>
              </a:rPr>
              <a:t>abc</a:t>
            </a:r>
            <a:r>
              <a:rPr lang="en-US" altLang="zh-TW" sz="1200" dirty="0">
                <a:solidFill>
                  <a:schemeClr val="tx1"/>
                </a:solidFill>
              </a:rPr>
              <a:t>() {</a:t>
            </a:r>
          </a:p>
          <a:p>
            <a:r>
              <a:rPr lang="en-US" altLang="zh-TW" sz="1200" dirty="0" err="1">
                <a:solidFill>
                  <a:schemeClr val="tx1"/>
                </a:solidFill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</a:rPr>
              <a:t>("</a:t>
            </a:r>
            <a:r>
              <a:rPr lang="zh-TW" altLang="en-US" sz="1200" dirty="0">
                <a:solidFill>
                  <a:schemeClr val="tx1"/>
                </a:solidFill>
              </a:rPr>
              <a:t>請輸入</a:t>
            </a:r>
            <a:r>
              <a:rPr lang="en-US" altLang="zh-TW" sz="1200" dirty="0">
                <a:solidFill>
                  <a:schemeClr val="tx1"/>
                </a:solidFill>
              </a:rPr>
              <a:t>100</a:t>
            </a:r>
            <a:r>
              <a:rPr lang="zh-TW" altLang="en-US" sz="1200" dirty="0">
                <a:solidFill>
                  <a:schemeClr val="tx1"/>
                </a:solidFill>
              </a:rPr>
              <a:t>以內的數字</a:t>
            </a:r>
            <a:r>
              <a:rPr lang="en-US" altLang="zh-TW" sz="1200" dirty="0">
                <a:solidFill>
                  <a:schemeClr val="tx1"/>
                </a:solidFill>
              </a:rPr>
              <a:t>");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}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74B851-AF5C-476F-96B3-FED54ABFF1CE}"/>
              </a:ext>
            </a:extLst>
          </p:cNvPr>
          <p:cNvSpPr/>
          <p:nvPr/>
        </p:nvSpPr>
        <p:spPr>
          <a:xfrm>
            <a:off x="1340768" y="3788904"/>
            <a:ext cx="1440160" cy="625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zh-TW" sz="1200" dirty="0">
                <a:solidFill>
                  <a:schemeClr val="tx1"/>
                </a:solidFill>
              </a:rPr>
              <a:t>&lt;script&gt; </a:t>
            </a:r>
          </a:p>
          <a:p>
            <a:r>
              <a:rPr lang="it-IT" altLang="zh-TW" sz="1200" dirty="0">
                <a:solidFill>
                  <a:schemeClr val="tx1"/>
                </a:solidFill>
              </a:rPr>
              <a:t>abc();</a:t>
            </a:r>
          </a:p>
          <a:p>
            <a:r>
              <a:rPr lang="it-IT" altLang="zh-TW" sz="1200" dirty="0">
                <a:solidFill>
                  <a:schemeClr val="tx1"/>
                </a:solidFill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956561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變數種類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微軟正黑體" panose="020B0604030504040204" pitchFamily="34" charset="-120"/>
              </a:rPr>
              <a:t>JavaScript</a:t>
            </a:r>
            <a:r>
              <a:rPr lang="zh-TW" altLang="en-US" sz="1600" dirty="0">
                <a:latin typeface="微軟正黑體" panose="020B0604030504040204" pitchFamily="34" charset="-120"/>
              </a:rPr>
              <a:t>擁有兩種變數範圍</a:t>
            </a:r>
            <a:endParaRPr lang="en-US" altLang="zh-TW" sz="1600" dirty="0">
              <a:latin typeface="微軟正黑體" panose="020B0604030504040204" pitchFamily="34" charset="-120"/>
            </a:endParaRPr>
          </a:p>
          <a:p>
            <a:pPr lvl="1"/>
            <a:r>
              <a:rPr lang="zh-TW" altLang="en-US" sz="1375" dirty="0">
                <a:latin typeface="微軟正黑體" panose="020B0604030504040204" pitchFamily="34" charset="-120"/>
              </a:rPr>
              <a:t>區域變數（</a:t>
            </a:r>
            <a:r>
              <a:rPr lang="en-US" altLang="zh-TW" sz="1375" dirty="0">
                <a:latin typeface="微軟正黑體" panose="020B0604030504040204" pitchFamily="34" charset="-120"/>
              </a:rPr>
              <a:t>Local Variables</a:t>
            </a:r>
            <a:r>
              <a:rPr lang="zh-TW" altLang="en-US" sz="1375" dirty="0">
                <a:latin typeface="微軟正黑體" panose="020B0604030504040204" pitchFamily="34" charset="-120"/>
              </a:rPr>
              <a:t>）：在函數內宣告的變數，變數只能在函數程式區塊之中使用，函數之外的程式碼並無法存取此變數</a:t>
            </a:r>
            <a:endParaRPr lang="en-US" altLang="zh-TW" sz="1375" dirty="0">
              <a:latin typeface="微軟正黑體" panose="020B0604030504040204" pitchFamily="34" charset="-120"/>
            </a:endParaRPr>
          </a:p>
          <a:p>
            <a:pPr lvl="1"/>
            <a:r>
              <a:rPr lang="zh-TW" altLang="en-US" sz="1375" dirty="0">
                <a:latin typeface="微軟正黑體" panose="020B0604030504040204" pitchFamily="34" charset="-120"/>
              </a:rPr>
              <a:t>全域變數（</a:t>
            </a:r>
            <a:r>
              <a:rPr lang="en-US" altLang="zh-TW" sz="1375" dirty="0">
                <a:latin typeface="微軟正黑體" panose="020B0604030504040204" pitchFamily="34" charset="-120"/>
              </a:rPr>
              <a:t>Global Variables</a:t>
            </a:r>
            <a:r>
              <a:rPr lang="zh-TW" altLang="en-US" sz="1375" dirty="0">
                <a:latin typeface="微軟正黑體" panose="020B0604030504040204" pitchFamily="34" charset="-120"/>
              </a:rPr>
              <a:t>）：如果變數是在函數外宣告，整個</a:t>
            </a:r>
            <a:r>
              <a:rPr lang="en-US" altLang="zh-TW" sz="1375" dirty="0">
                <a:latin typeface="微軟正黑體" panose="020B0604030504040204" pitchFamily="34" charset="-120"/>
              </a:rPr>
              <a:t>JavaScript</a:t>
            </a:r>
            <a:r>
              <a:rPr lang="zh-TW" altLang="en-US" sz="1375" dirty="0">
                <a:latin typeface="微軟正黑體" panose="020B0604030504040204" pitchFamily="34" charset="-120"/>
              </a:rPr>
              <a:t>程式檔的函數和程式碼都可以存取此變數。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91B5E-A4AA-4D4C-860F-E95980E6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8"/>
            <a:ext cx="184731" cy="421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62A62A4-2A0B-4B0D-9B5A-9DFB58BD114E}"/>
              </a:ext>
            </a:extLst>
          </p:cNvPr>
          <p:cNvSpPr/>
          <p:nvPr/>
        </p:nvSpPr>
        <p:spPr>
          <a:xfrm>
            <a:off x="2012755" y="2643758"/>
            <a:ext cx="2832490" cy="17805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&lt;script&gt;</a:t>
            </a:r>
          </a:p>
          <a:p>
            <a:endParaRPr lang="en-US" altLang="zh-TW" sz="1200" dirty="0">
              <a:solidFill>
                <a:schemeClr val="tx1"/>
              </a:solidFill>
            </a:endParaRPr>
          </a:p>
          <a:p>
            <a:r>
              <a:rPr lang="zh-TW" altLang="en-US" sz="1200" dirty="0">
                <a:solidFill>
                  <a:schemeClr val="tx1"/>
                </a:solidFill>
              </a:rPr>
              <a:t>　</a:t>
            </a:r>
            <a:r>
              <a:rPr lang="en-US" altLang="zh-TW" sz="1200" dirty="0">
                <a:solidFill>
                  <a:schemeClr val="tx1"/>
                </a:solidFill>
              </a:rPr>
              <a:t>var A=10;</a:t>
            </a:r>
            <a:r>
              <a:rPr lang="zh-TW" altLang="en-US" sz="1200" dirty="0">
                <a:solidFill>
                  <a:schemeClr val="tx1"/>
                </a:solidFill>
              </a:rPr>
              <a:t>　</a:t>
            </a:r>
            <a:r>
              <a:rPr lang="en-US" altLang="zh-TW" sz="1200" dirty="0">
                <a:solidFill>
                  <a:schemeClr val="tx1"/>
                </a:solidFill>
              </a:rPr>
              <a:t>//Global Variables</a:t>
            </a:r>
          </a:p>
          <a:p>
            <a:endParaRPr lang="en-US" altLang="zh-TW" sz="1200" dirty="0">
              <a:solidFill>
                <a:schemeClr val="tx1"/>
              </a:solidFill>
            </a:endParaRPr>
          </a:p>
          <a:p>
            <a:r>
              <a:rPr lang="zh-TW" altLang="en-US" sz="1200" dirty="0">
                <a:solidFill>
                  <a:schemeClr val="tx1"/>
                </a:solidFill>
              </a:rPr>
              <a:t>　</a:t>
            </a:r>
            <a:r>
              <a:rPr lang="en-US" altLang="zh-TW" sz="1200" dirty="0">
                <a:solidFill>
                  <a:schemeClr val="tx1"/>
                </a:solidFill>
              </a:rPr>
              <a:t>function Test(){</a:t>
            </a:r>
          </a:p>
          <a:p>
            <a:r>
              <a:rPr lang="zh-TW" altLang="en-US" sz="1200" dirty="0">
                <a:solidFill>
                  <a:schemeClr val="tx1"/>
                </a:solidFill>
              </a:rPr>
              <a:t>　　</a:t>
            </a:r>
            <a:r>
              <a:rPr lang="en-US" altLang="zh-TW" sz="1200" dirty="0">
                <a:solidFill>
                  <a:schemeClr val="tx1"/>
                </a:solidFill>
              </a:rPr>
              <a:t>var B=200;</a:t>
            </a:r>
            <a:r>
              <a:rPr lang="zh-TW" altLang="en-US" sz="1200" dirty="0">
                <a:solidFill>
                  <a:schemeClr val="tx1"/>
                </a:solidFill>
              </a:rPr>
              <a:t>　</a:t>
            </a:r>
            <a:r>
              <a:rPr lang="en-US" altLang="zh-TW" sz="1200" dirty="0">
                <a:solidFill>
                  <a:schemeClr val="tx1"/>
                </a:solidFill>
              </a:rPr>
              <a:t>//Local Variables</a:t>
            </a:r>
          </a:p>
          <a:p>
            <a:r>
              <a:rPr lang="zh-TW" altLang="en-US" sz="1200" dirty="0">
                <a:solidFill>
                  <a:schemeClr val="tx1"/>
                </a:solidFill>
              </a:rPr>
              <a:t>　</a:t>
            </a:r>
            <a:r>
              <a:rPr lang="en-US" altLang="zh-TW" sz="1200" dirty="0">
                <a:solidFill>
                  <a:schemeClr val="tx1"/>
                </a:solidFill>
              </a:rPr>
              <a:t>}</a:t>
            </a:r>
          </a:p>
          <a:p>
            <a:endParaRPr lang="en-US" altLang="zh-TW" sz="1200" dirty="0">
              <a:solidFill>
                <a:schemeClr val="tx1"/>
              </a:solidFill>
            </a:endParaRPr>
          </a:p>
          <a:p>
            <a:r>
              <a:rPr lang="en-US" altLang="zh-TW" sz="1200" dirty="0">
                <a:solidFill>
                  <a:schemeClr val="tx1"/>
                </a:solidFill>
              </a:rPr>
              <a:t>&lt;/script&gt;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098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285E00-9012-4D4D-92CD-82F41D4B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Lab01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6905A4-6378-45B3-AA61-A3D84C3A6A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7BEBC3D-EA5C-4263-A480-64FEA7532A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2D2A4E5-1407-4346-8E1A-D22A9F857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61" y="1298231"/>
            <a:ext cx="5988521" cy="119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1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DE1E3-E6ED-475F-A0AF-77705B52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Lab01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607253-3E26-4312-ADAB-976CD0341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FAAD6B-D15A-4B5D-AA8D-846AD275C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A69F6C1-F61B-48C3-8DD4-912A6FCE7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425768"/>
            <a:ext cx="6115050" cy="297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6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</a:rPr>
              <a:t>有參數的函式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1600" dirty="0">
                <a:latin typeface="微軟正黑體" panose="020B0604030504040204" pitchFamily="34" charset="-120"/>
              </a:rPr>
              <a:t>JavaScript</a:t>
            </a:r>
            <a:r>
              <a:rPr lang="zh-TW" altLang="en-US" sz="1600" dirty="0">
                <a:latin typeface="微軟正黑體" panose="020B0604030504040204" pitchFamily="34" charset="-120"/>
              </a:rPr>
              <a:t>函式可以傳入</a:t>
            </a:r>
            <a:r>
              <a:rPr lang="en-US" altLang="zh-TW" sz="1600" dirty="0">
                <a:latin typeface="微軟正黑體" panose="020B0604030504040204" pitchFamily="34" charset="-120"/>
              </a:rPr>
              <a:t>1</a:t>
            </a:r>
            <a:r>
              <a:rPr lang="zh-TW" altLang="en-US" sz="1600" dirty="0">
                <a:latin typeface="微軟正黑體" panose="020B0604030504040204" pitchFamily="34" charset="-120"/>
              </a:rPr>
              <a:t>至多個參數，函式如果擁有傳入參數，在呼叫函式時，只需傳入不同的參數值（稱為引數）就可以產生不同的執行結果。</a:t>
            </a:r>
            <a:endParaRPr lang="en-US" altLang="zh-TW" sz="1600" dirty="0">
              <a:latin typeface="微軟正黑體" panose="020B0604030504040204" pitchFamily="34" charset="-120"/>
            </a:endParaRPr>
          </a:p>
          <a:p>
            <a:endParaRPr lang="en-US" altLang="zh-TW" sz="1600" dirty="0">
              <a:latin typeface="微軟正黑體" panose="020B0604030504040204" pitchFamily="34" charset="-120"/>
            </a:endParaRPr>
          </a:p>
          <a:p>
            <a:endParaRPr lang="en-US" altLang="zh-TW" sz="1600" dirty="0">
              <a:latin typeface="微軟正黑體" panose="020B0604030504040204" pitchFamily="34" charset="-120"/>
            </a:endParaRPr>
          </a:p>
          <a:p>
            <a:endParaRPr lang="en-US" altLang="zh-TW" sz="1600" dirty="0">
              <a:latin typeface="微軟正黑體" panose="020B0604030504040204" pitchFamily="34" charset="-120"/>
            </a:endParaRPr>
          </a:p>
          <a:p>
            <a:r>
              <a:rPr lang="en-US" altLang="zh-TW" sz="1600" dirty="0">
                <a:latin typeface="微軟正黑體" panose="020B0604030504040204" pitchFamily="34" charset="-120"/>
              </a:rPr>
              <a:t>write ()</a:t>
            </a:r>
            <a:r>
              <a:rPr lang="zh-TW" altLang="en-US" sz="1600" dirty="0">
                <a:latin typeface="微軟正黑體" panose="020B0604030504040204" pitchFamily="34" charset="-120"/>
              </a:rPr>
              <a:t>函式擁有</a:t>
            </a:r>
            <a:r>
              <a:rPr lang="en-US" altLang="zh-TW" sz="1600" dirty="0">
                <a:latin typeface="微軟正黑體" panose="020B0604030504040204" pitchFamily="34" charset="-120"/>
              </a:rPr>
              <a:t>2</a:t>
            </a:r>
            <a:r>
              <a:rPr lang="zh-TW" altLang="en-US" sz="1600" dirty="0">
                <a:latin typeface="微軟正黑體" panose="020B0604030504040204" pitchFamily="34" charset="-120"/>
              </a:rPr>
              <a:t>個參數。因為函式擁有參數，在呼叫函式時需要傳入引數（</a:t>
            </a:r>
            <a:r>
              <a:rPr lang="en-US" altLang="zh-TW" sz="1600" dirty="0">
                <a:latin typeface="微軟正黑體" panose="020B0604030504040204" pitchFamily="34" charset="-120"/>
              </a:rPr>
              <a:t>Arguments</a:t>
            </a:r>
            <a:r>
              <a:rPr lang="zh-TW" altLang="en-US" sz="1600" dirty="0">
                <a:latin typeface="微軟正黑體" panose="020B0604030504040204" pitchFamily="34" charset="-120"/>
              </a:rPr>
              <a:t>）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D1CE3D-FF89-48A7-89CC-C38EEAA68DD6}"/>
              </a:ext>
            </a:extLst>
          </p:cNvPr>
          <p:cNvSpPr/>
          <p:nvPr/>
        </p:nvSpPr>
        <p:spPr>
          <a:xfrm>
            <a:off x="2132856" y="1995686"/>
            <a:ext cx="2832490" cy="9361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function write(</a:t>
            </a:r>
            <a:r>
              <a:rPr lang="en-US" altLang="zh-TW" sz="1200" dirty="0" err="1">
                <a:solidFill>
                  <a:schemeClr val="tx1"/>
                </a:solidFill>
              </a:rPr>
              <a:t>strMsg</a:t>
            </a:r>
            <a:r>
              <a:rPr lang="en-US" altLang="zh-TW" sz="1200" dirty="0">
                <a:solidFill>
                  <a:schemeClr val="tx1"/>
                </a:solidFill>
              </a:rPr>
              <a:t>, </a:t>
            </a:r>
            <a:r>
              <a:rPr lang="en-US" altLang="zh-TW" sz="1200" dirty="0" err="1">
                <a:solidFill>
                  <a:schemeClr val="tx1"/>
                </a:solidFill>
              </a:rPr>
              <a:t>intnum</a:t>
            </a:r>
            <a:r>
              <a:rPr lang="en-US" altLang="zh-TW" sz="1200" dirty="0">
                <a:solidFill>
                  <a:schemeClr val="tx1"/>
                </a:solidFill>
              </a:rPr>
              <a:t>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for(var </a:t>
            </a:r>
            <a:r>
              <a:rPr lang="en-US" altLang="zh-TW" sz="1200" dirty="0" err="1">
                <a:solidFill>
                  <a:schemeClr val="tx1"/>
                </a:solidFill>
              </a:rPr>
              <a:t>i</a:t>
            </a:r>
            <a:r>
              <a:rPr lang="en-US" altLang="zh-TW" sz="1200" dirty="0">
                <a:solidFill>
                  <a:schemeClr val="tx1"/>
                </a:solidFill>
              </a:rPr>
              <a:t>=1; </a:t>
            </a:r>
            <a:r>
              <a:rPr lang="en-US" altLang="zh-TW" sz="1200" dirty="0" err="1">
                <a:solidFill>
                  <a:schemeClr val="tx1"/>
                </a:solidFill>
              </a:rPr>
              <a:t>i</a:t>
            </a:r>
            <a:r>
              <a:rPr lang="en-US" altLang="zh-TW" sz="1200" dirty="0">
                <a:solidFill>
                  <a:schemeClr val="tx1"/>
                </a:solidFill>
              </a:rPr>
              <a:t>&lt;=</a:t>
            </a:r>
            <a:r>
              <a:rPr lang="en-US" altLang="zh-TW" sz="1200" dirty="0" err="1">
                <a:solidFill>
                  <a:schemeClr val="tx1"/>
                </a:solidFill>
              </a:rPr>
              <a:t>intnum</a:t>
            </a:r>
            <a:r>
              <a:rPr lang="en-US" altLang="zh-TW" sz="1200" dirty="0">
                <a:solidFill>
                  <a:schemeClr val="tx1"/>
                </a:solidFill>
              </a:rPr>
              <a:t>; </a:t>
            </a:r>
            <a:r>
              <a:rPr lang="en-US" altLang="zh-TW" sz="1200" dirty="0" err="1">
                <a:solidFill>
                  <a:schemeClr val="tx1"/>
                </a:solidFill>
              </a:rPr>
              <a:t>i</a:t>
            </a:r>
            <a:r>
              <a:rPr lang="en-US" altLang="zh-TW" sz="1200" dirty="0">
                <a:solidFill>
                  <a:schemeClr val="tx1"/>
                </a:solidFill>
              </a:rPr>
              <a:t>++)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   </a:t>
            </a:r>
            <a:r>
              <a:rPr lang="en-US" altLang="zh-TW" sz="1200" dirty="0" err="1">
                <a:solidFill>
                  <a:schemeClr val="tx1"/>
                </a:solidFill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</a:rPr>
              <a:t>(</a:t>
            </a:r>
            <a:r>
              <a:rPr lang="en-US" altLang="zh-TW" sz="1200" dirty="0" err="1">
                <a:solidFill>
                  <a:schemeClr val="tx1"/>
                </a:solidFill>
              </a:rPr>
              <a:t>strMsg</a:t>
            </a:r>
            <a:r>
              <a:rPr lang="en-US" altLang="zh-TW" sz="1200" dirty="0">
                <a:solidFill>
                  <a:schemeClr val="tx1"/>
                </a:solidFill>
              </a:rPr>
              <a:t> + "&lt;</a:t>
            </a:r>
            <a:r>
              <a:rPr lang="en-US" altLang="zh-TW" sz="1200" dirty="0" err="1">
                <a:solidFill>
                  <a:schemeClr val="tx1"/>
                </a:solidFill>
              </a:rPr>
              <a:t>br</a:t>
            </a:r>
            <a:r>
              <a:rPr lang="en-US" altLang="zh-TW" sz="1200" dirty="0">
                <a:solidFill>
                  <a:schemeClr val="tx1"/>
                </a:solidFill>
              </a:rPr>
              <a:t>/&gt;");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}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}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DF4E21-A299-436C-B6DB-26639FA21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601" y="3423047"/>
            <a:ext cx="1847850" cy="12287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C016996-94B6-49E6-9C97-87BE1F22E393}"/>
              </a:ext>
            </a:extLst>
          </p:cNvPr>
          <p:cNvSpPr/>
          <p:nvPr/>
        </p:nvSpPr>
        <p:spPr>
          <a:xfrm>
            <a:off x="898299" y="3895117"/>
            <a:ext cx="2832490" cy="2845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write("</a:t>
            </a:r>
            <a:r>
              <a:rPr lang="zh-TW" altLang="en-US" sz="1200" dirty="0">
                <a:solidFill>
                  <a:schemeClr val="tx1"/>
                </a:solidFill>
              </a:rPr>
              <a:t>國立雲林科技大學</a:t>
            </a:r>
            <a:r>
              <a:rPr lang="en-US" altLang="zh-TW" sz="1200" dirty="0">
                <a:solidFill>
                  <a:schemeClr val="tx1"/>
                </a:solidFill>
              </a:rPr>
              <a:t>", 5);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1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</a:rPr>
              <a:t>函式的傳回值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altLang="zh-TW" sz="1600" dirty="0">
                <a:ea typeface="新細明體" panose="02020500000000000000" pitchFamily="18" charset="-120"/>
              </a:rPr>
              <a:t>JavaScript</a:t>
            </a:r>
            <a:r>
              <a:rPr lang="zh-TW" altLang="en-US" sz="1600" dirty="0">
                <a:ea typeface="新細明體" panose="02020500000000000000" pitchFamily="18" charset="-120"/>
              </a:rPr>
              <a:t>函式可以傳回函式的執行結果，即函式的傳回值，此時的函式可以視為是一個黑盒子，只需傳入不同的參數值，就可以產生不同執行結果的傳回值，例如：建立計算數學公式的</a:t>
            </a:r>
            <a:r>
              <a:rPr lang="en-US" altLang="zh-TW" sz="1600" dirty="0">
                <a:ea typeface="新細明體" panose="02020500000000000000" pitchFamily="18" charset="-120"/>
              </a:rPr>
              <a:t>JavaScript</a:t>
            </a:r>
            <a:r>
              <a:rPr lang="zh-TW" altLang="en-US" sz="1600" dirty="0">
                <a:ea typeface="新細明體" panose="02020500000000000000" pitchFamily="18" charset="-120"/>
              </a:rPr>
              <a:t>函式。</a:t>
            </a:r>
            <a:endParaRPr lang="en-US" altLang="zh-TW" sz="1600" dirty="0">
              <a:ea typeface="新細明體" panose="02020500000000000000" pitchFamily="18" charset="-120"/>
            </a:endParaRPr>
          </a:p>
          <a:p>
            <a:r>
              <a:rPr lang="zh-TW" altLang="en-US" sz="1600" dirty="0">
                <a:latin typeface="+mn-ea"/>
              </a:rPr>
              <a:t>對於華氏（</a:t>
            </a:r>
            <a:r>
              <a:rPr lang="en-US" altLang="zh-TW" sz="1600" dirty="0">
                <a:latin typeface="+mn-ea"/>
              </a:rPr>
              <a:t>Fahrenheit</a:t>
            </a:r>
            <a:r>
              <a:rPr lang="zh-TW" altLang="en-US" sz="1600" dirty="0">
                <a:latin typeface="+mn-ea"/>
              </a:rPr>
              <a:t>）和攝氏（</a:t>
            </a:r>
            <a:r>
              <a:rPr lang="en-US" altLang="zh-TW" sz="1600" dirty="0">
                <a:latin typeface="+mn-ea"/>
              </a:rPr>
              <a:t>Celsius</a:t>
            </a:r>
            <a:r>
              <a:rPr lang="zh-TW" altLang="en-US" sz="1600" dirty="0">
                <a:latin typeface="+mn-ea"/>
              </a:rPr>
              <a:t>）的溫度轉換來說，我們可以使用數學公式來進行計算。首先是攝氏轉華氏的公式：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f = (9.0 * c) / 5.0 + 32.0;</a:t>
            </a:r>
          </a:p>
          <a:p>
            <a:r>
              <a:rPr lang="zh-TW" altLang="en-US" sz="1600" dirty="0">
                <a:latin typeface="+mn-ea"/>
              </a:rPr>
              <a:t>華氏轉攝氏的公式：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c = (5.0 / 9.0 ) * (f - 32);</a:t>
            </a:r>
          </a:p>
          <a:p>
            <a:pPr algn="just"/>
            <a:endParaRPr lang="zh-TW" altLang="en-US" sz="1600" dirty="0">
              <a:ea typeface="新細明體" panose="02020500000000000000" pitchFamily="18" charset="-120"/>
            </a:endParaRPr>
          </a:p>
          <a:p>
            <a:pPr marL="0" indent="0" algn="just">
              <a:buNone/>
            </a:pPr>
            <a:endParaRPr lang="zh-TW" altLang="en-US" sz="1600" dirty="0">
              <a:latin typeface="微軟正黑體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04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901A-702E-43E9-BC43-AF42D1E0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>
                <a:latin typeface="微軟正黑體" panose="020B0604030504040204" pitchFamily="34" charset="-120"/>
              </a:rPr>
              <a:t>函式的傳回值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D9432-5656-4356-9719-B8C579AA174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zh-TW" altLang="en-US" sz="1600" dirty="0">
                <a:ea typeface="新細明體" panose="02020500000000000000" pitchFamily="18" charset="-120"/>
              </a:rPr>
              <a:t>我們可以建立</a:t>
            </a:r>
            <a:r>
              <a:rPr lang="en-US" altLang="zh-TW" sz="1600" dirty="0">
                <a:ea typeface="新細明體" panose="02020500000000000000" pitchFamily="18" charset="-120"/>
              </a:rPr>
              <a:t>JavaScript</a:t>
            </a:r>
            <a:r>
              <a:rPr lang="zh-TW" altLang="en-US" sz="1600" dirty="0">
                <a:ea typeface="新細明體" panose="02020500000000000000" pitchFamily="18" charset="-120"/>
              </a:rPr>
              <a:t>函數替我們解數學問題，像是溫度轉換函數</a:t>
            </a:r>
            <a:r>
              <a:rPr lang="en-US" altLang="zh-TW" sz="1600" dirty="0">
                <a:ea typeface="新細明體" panose="02020500000000000000" pitchFamily="18" charset="-120"/>
              </a:rPr>
              <a:t>convert2F()</a:t>
            </a:r>
            <a:r>
              <a:rPr lang="zh-TW" altLang="en-US" sz="1600" dirty="0">
                <a:ea typeface="新細明體" panose="02020500000000000000" pitchFamily="18" charset="-120"/>
              </a:rPr>
              <a:t>計算攝氏轉成華氏的溫度，使用</a:t>
            </a:r>
            <a:r>
              <a:rPr lang="en-US" altLang="zh-TW" sz="1600" dirty="0">
                <a:ea typeface="新細明體" panose="02020500000000000000" pitchFamily="18" charset="-120"/>
              </a:rPr>
              <a:t>return</a:t>
            </a:r>
            <a:r>
              <a:rPr lang="zh-TW" altLang="en-US" sz="1600" dirty="0">
                <a:ea typeface="新細明體" panose="02020500000000000000" pitchFamily="18" charset="-120"/>
              </a:rPr>
              <a:t>關鍵字傳回函數的執行結果。若是輸入攝氏</a:t>
            </a:r>
            <a:r>
              <a:rPr lang="en-US" altLang="zh-TW" sz="1600" dirty="0">
                <a:ea typeface="新細明體" panose="02020500000000000000" pitchFamily="18" charset="-120"/>
              </a:rPr>
              <a:t>20</a:t>
            </a:r>
            <a:r>
              <a:rPr lang="zh-TW" altLang="en-US" sz="1600" dirty="0">
                <a:ea typeface="新細明體" panose="02020500000000000000" pitchFamily="18" charset="-120"/>
              </a:rPr>
              <a:t>度，則會得出華氏</a:t>
            </a:r>
            <a:r>
              <a:rPr lang="en-US" altLang="zh-TW" sz="1600" dirty="0">
                <a:ea typeface="新細明體" panose="02020500000000000000" pitchFamily="18" charset="-120"/>
              </a:rPr>
              <a:t>68</a:t>
            </a:r>
            <a:r>
              <a:rPr lang="zh-TW" altLang="en-US" sz="1600" dirty="0">
                <a:ea typeface="新細明體" panose="02020500000000000000" pitchFamily="18" charset="-120"/>
              </a:rPr>
              <a:t>度。</a:t>
            </a:r>
            <a:endParaRPr lang="zh-TW" altLang="en-US" sz="1600" dirty="0">
              <a:latin typeface="微軟正黑體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41A5E93-F2EB-4146-995D-6D4C76C603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3C9DE-F8C4-45F5-AB6E-86F35534D4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C3313B-9F54-44AB-8420-789238DB371C}"/>
              </a:ext>
            </a:extLst>
          </p:cNvPr>
          <p:cNvSpPr/>
          <p:nvPr/>
        </p:nvSpPr>
        <p:spPr>
          <a:xfrm>
            <a:off x="2012755" y="2323266"/>
            <a:ext cx="2832490" cy="16092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var f;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function convert2F(c)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f = (9.0 * c) / 5.0 + 32.0;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return f;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}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f = convert2F(20);</a:t>
            </a:r>
          </a:p>
          <a:p>
            <a:r>
              <a:rPr lang="en-US" altLang="zh-TW" sz="1200" dirty="0" err="1">
                <a:solidFill>
                  <a:schemeClr val="tx1"/>
                </a:solidFill>
              </a:rPr>
              <a:t>document.write</a:t>
            </a:r>
            <a:r>
              <a:rPr lang="en-US" altLang="zh-TW" sz="1200" dirty="0">
                <a:solidFill>
                  <a:schemeClr val="tx1"/>
                </a:solidFill>
              </a:rPr>
              <a:t>(f);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DDBA1EF-96A2-45DD-BEA1-1474E188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4123657"/>
            <a:ext cx="3429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99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285E00-9012-4D4D-92CD-82F41D4B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Lab02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6905A4-6378-45B3-AA61-A3D84C3A6A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7BEBC3D-EA5C-4263-A480-64FEA7532A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36172EE-BD1D-4976-9960-91FE54472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1464469"/>
            <a:ext cx="356235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01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DE1E3-E6ED-475F-A0AF-77705B52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Lab02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607253-3E26-4312-ADAB-976CD0341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FAAD6B-D15A-4B5D-AA8D-846AD275C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C0B556F-B0FF-4A04-A1FF-63C9D954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68" y="1563638"/>
            <a:ext cx="5805264" cy="245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85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DE1E3-E6ED-475F-A0AF-77705B52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Lab02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607253-3E26-4312-ADAB-976CD0341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FAAD6B-D15A-4B5D-AA8D-846AD275C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BA9146-F632-4CE7-B880-BE2C2D0F2C49}"/>
              </a:ext>
            </a:extLst>
          </p:cNvPr>
          <p:cNvSpPr/>
          <p:nvPr/>
        </p:nvSpPr>
        <p:spPr>
          <a:xfrm>
            <a:off x="260652" y="1283792"/>
            <a:ext cx="691276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/>
              <a:t>&lt;body&gt;</a:t>
            </a:r>
          </a:p>
          <a:p>
            <a:r>
              <a:rPr lang="zh-TW" altLang="en-US" sz="1600" dirty="0"/>
              <a:t>    &lt;p id="demo"&gt;&lt;/p&gt;</a:t>
            </a:r>
          </a:p>
          <a:p>
            <a:r>
              <a:rPr lang="zh-TW" altLang="en-US" sz="1600" dirty="0"/>
              <a:t>    &lt;p&gt;請輸入華氏溫度&lt;input type="text" id='fahrenheitId'&gt;度&lt;/p&gt;</a:t>
            </a:r>
          </a:p>
          <a:p>
            <a:r>
              <a:rPr lang="zh-TW" altLang="en-US" sz="1600" dirty="0"/>
              <a:t>    &lt;p&gt;&lt;button onclick="toCelsius(f)"&gt;轉換成攝氏&lt;/button&gt;&lt;/p&gt;</a:t>
            </a:r>
          </a:p>
          <a:p>
            <a:r>
              <a:rPr lang="zh-TW" altLang="en-US" sz="1600" dirty="0"/>
              <a:t>    &lt;p&gt;得出的攝氏溫度為&lt;em id='totalId'&gt;&lt;/em&gt;度。&lt;/p&gt;     </a:t>
            </a:r>
          </a:p>
          <a:p>
            <a:r>
              <a:rPr lang="zh-TW" altLang="en-US" sz="1600" dirty="0"/>
              <a:t>      &lt;script&gt; </a:t>
            </a:r>
          </a:p>
          <a:p>
            <a:r>
              <a:rPr lang="zh-TW" altLang="en-US" sz="1600" dirty="0"/>
              <a:t>    var f; </a:t>
            </a:r>
          </a:p>
          <a:p>
            <a:r>
              <a:rPr lang="zh-TW" altLang="en-US" sz="1600" dirty="0"/>
              <a:t>    function toCelsius(f) {</a:t>
            </a:r>
          </a:p>
          <a:p>
            <a:r>
              <a:rPr lang="zh-TW" altLang="en-US" sz="1600" dirty="0"/>
              <a:t>          var f = parseInt(document.getElementById('fahrenheitId').value);</a:t>
            </a:r>
          </a:p>
          <a:p>
            <a:r>
              <a:rPr lang="zh-TW" altLang="en-US" sz="1600" dirty="0"/>
              <a:t>          var c = (5/9) * (f-32);          </a:t>
            </a:r>
          </a:p>
          <a:p>
            <a:r>
              <a:rPr lang="zh-TW" altLang="en-US" sz="1600" dirty="0"/>
              <a:t>          document.getElementById('totalId').textContent = c.toFixed(2);                 </a:t>
            </a:r>
          </a:p>
          <a:p>
            <a:r>
              <a:rPr lang="zh-TW" altLang="en-US" sz="1600" dirty="0"/>
              <a:t>          }          </a:t>
            </a:r>
          </a:p>
          <a:p>
            <a:r>
              <a:rPr lang="zh-TW" altLang="en-US" sz="1600" dirty="0"/>
              <a:t>      &lt;/script&gt;  </a:t>
            </a:r>
          </a:p>
          <a:p>
            <a:r>
              <a:rPr lang="zh-TW" altLang="en-US" sz="1600" dirty="0"/>
              <a:t>    &lt;/body&gt;</a:t>
            </a:r>
          </a:p>
        </p:txBody>
      </p:sp>
    </p:spTree>
    <p:extLst>
      <p:ext uri="{BB962C8B-B14F-4D97-AF65-F5344CB8AC3E}">
        <p14:creationId xmlns:p14="http://schemas.microsoft.com/office/powerpoint/2010/main" val="145966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函數運算式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微軟正黑體" panose="020B0604030504040204" pitchFamily="34" charset="-120"/>
              </a:rPr>
              <a:t>函式運算式是透過變數，將一個函式透過 </a:t>
            </a:r>
            <a:r>
              <a:rPr lang="en-US" altLang="zh-TW" sz="1600" dirty="0">
                <a:latin typeface="微軟正黑體" panose="020B0604030504040204" pitchFamily="34" charset="-120"/>
              </a:rPr>
              <a:t>= </a:t>
            </a:r>
            <a:r>
              <a:rPr lang="zh-TW" altLang="en-US" sz="1600" dirty="0">
                <a:latin typeface="微軟正黑體" panose="020B0604030504040204" pitchFamily="34" charset="-120"/>
              </a:rPr>
              <a:t>指定給某個變數。函式實際上它仍屬於 </a:t>
            </a:r>
            <a:r>
              <a:rPr lang="en-US" altLang="zh-TW" sz="1600" dirty="0">
                <a:latin typeface="微軟正黑體" panose="020B0604030504040204" pitchFamily="34" charset="-120"/>
              </a:rPr>
              <a:t>Object </a:t>
            </a:r>
            <a:r>
              <a:rPr lang="zh-TW" altLang="en-US" sz="1600" dirty="0">
                <a:latin typeface="微軟正黑體" panose="020B0604030504040204" pitchFamily="34" charset="-120"/>
              </a:rPr>
              <a:t>的類型，是一種可以被呼叫 </a:t>
            </a:r>
            <a:r>
              <a:rPr lang="en-US" altLang="zh-TW" sz="1600" dirty="0">
                <a:latin typeface="微軟正黑體" panose="020B0604030504040204" pitchFamily="34" charset="-120"/>
              </a:rPr>
              <a:t>(be invoked) </a:t>
            </a:r>
            <a:r>
              <a:rPr lang="zh-TW" altLang="en-US" sz="1600" dirty="0">
                <a:latin typeface="微軟正黑體" panose="020B0604030504040204" pitchFamily="34" charset="-120"/>
              </a:rPr>
              <a:t>的特殊物件 </a:t>
            </a:r>
            <a:r>
              <a:rPr lang="en-US" altLang="zh-TW" sz="1600" dirty="0">
                <a:latin typeface="微軟正黑體" panose="020B0604030504040204" pitchFamily="34" charset="-120"/>
              </a:rPr>
              <a:t>(</a:t>
            </a:r>
            <a:r>
              <a:rPr lang="zh-TW" altLang="en-US" sz="1600" dirty="0">
                <a:latin typeface="微軟正黑體" panose="020B0604030504040204" pitchFamily="34" charset="-120"/>
              </a:rPr>
              <a:t>值</a:t>
            </a:r>
            <a:r>
              <a:rPr lang="en-US" altLang="zh-TW" sz="1600" dirty="0">
                <a:latin typeface="微軟正黑體" panose="020B0604030504040204" pitchFamily="34" charset="-120"/>
              </a:rPr>
              <a:t>)</a:t>
            </a:r>
            <a:r>
              <a:rPr lang="zh-TW" altLang="en-US" sz="1600" dirty="0">
                <a:latin typeface="微軟正黑體" panose="020B0604030504040204" pitchFamily="34" charset="-120"/>
              </a:rPr>
              <a:t>，所以可以透過變數存入。若是沒有為涵式取名的話，通常會稱它為「匿名函式」，像這類沒有名字的函式在 </a:t>
            </a:r>
            <a:r>
              <a:rPr lang="en-US" altLang="zh-TW" sz="1600" dirty="0">
                <a:latin typeface="微軟正黑體" panose="020B0604030504040204" pitchFamily="34" charset="-120"/>
              </a:rPr>
              <a:t>JavaScript </a:t>
            </a:r>
            <a:r>
              <a:rPr lang="zh-TW" altLang="en-US" sz="1600" dirty="0">
                <a:latin typeface="微軟正黑體" panose="020B0604030504040204" pitchFamily="34" charset="-120"/>
              </a:rPr>
              <a:t>仍是合法的，。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91B5E-A4AA-4D4C-860F-E95980E6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8"/>
            <a:ext cx="184731" cy="421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25D1B0-7873-4B8C-8682-91E0322B110F}"/>
              </a:ext>
            </a:extLst>
          </p:cNvPr>
          <p:cNvSpPr/>
          <p:nvPr/>
        </p:nvSpPr>
        <p:spPr>
          <a:xfrm>
            <a:off x="836712" y="2977406"/>
            <a:ext cx="2232248" cy="625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var </a:t>
            </a:r>
            <a:r>
              <a:rPr lang="en-US" altLang="zh-TW" sz="1200" dirty="0" err="1">
                <a:solidFill>
                  <a:schemeClr val="tx1"/>
                </a:solidFill>
              </a:rPr>
              <a:t>abc</a:t>
            </a:r>
            <a:r>
              <a:rPr lang="en-US" altLang="zh-TW" sz="1200" dirty="0">
                <a:solidFill>
                  <a:schemeClr val="tx1"/>
                </a:solidFill>
              </a:rPr>
              <a:t> = function (number)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return number * number;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};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13E399-8719-4F51-87D1-297E8DAC6B61}"/>
              </a:ext>
            </a:extLst>
          </p:cNvPr>
          <p:cNvSpPr/>
          <p:nvPr/>
        </p:nvSpPr>
        <p:spPr>
          <a:xfrm>
            <a:off x="3517011" y="2571750"/>
            <a:ext cx="2232248" cy="14367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altLang="zh-TW" sz="1200" dirty="0">
                <a:solidFill>
                  <a:schemeClr val="tx1"/>
                </a:solidFill>
              </a:rPr>
              <a:t>var x = 1;</a:t>
            </a:r>
          </a:p>
          <a:p>
            <a:r>
              <a:rPr lang="da-DK" altLang="zh-TW" sz="1200" dirty="0">
                <a:solidFill>
                  <a:schemeClr val="tx1"/>
                </a:solidFill>
              </a:rPr>
              <a:t>    var f = function(y) {</a:t>
            </a:r>
          </a:p>
          <a:p>
            <a:r>
              <a:rPr lang="da-DK" altLang="zh-TW" sz="1200" dirty="0">
                <a:solidFill>
                  <a:schemeClr val="tx1"/>
                </a:solidFill>
              </a:rPr>
              <a:t>        var x = 100;</a:t>
            </a:r>
          </a:p>
          <a:p>
            <a:r>
              <a:rPr lang="da-DK" altLang="zh-TW" sz="1200" dirty="0">
                <a:solidFill>
                  <a:schemeClr val="tx1"/>
                </a:solidFill>
              </a:rPr>
              <a:t>        return x + y; </a:t>
            </a:r>
          </a:p>
          <a:p>
            <a:r>
              <a:rPr lang="da-DK" altLang="zh-TW" sz="1200" dirty="0">
                <a:solidFill>
                  <a:schemeClr val="tx1"/>
                </a:solidFill>
              </a:rPr>
              <a:t>};</a:t>
            </a:r>
          </a:p>
          <a:p>
            <a:r>
              <a:rPr lang="it-IT" altLang="zh-TW" sz="1200" dirty="0">
                <a:solidFill>
                  <a:schemeClr val="tx1"/>
                </a:solidFill>
              </a:rPr>
              <a:t>document.write(f(50)+"&lt;br/&gt;");</a:t>
            </a:r>
          </a:p>
          <a:p>
            <a:r>
              <a:rPr lang="it-IT" altLang="zh-TW" sz="1200" dirty="0">
                <a:solidFill>
                  <a:schemeClr val="tx1"/>
                </a:solidFill>
              </a:rPr>
              <a:t>document.write(x);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C19DCCE3-F79C-4638-AA34-D9E3DB423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112" y="4055740"/>
            <a:ext cx="48577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57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巢狀函數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+mn-ea"/>
              </a:rPr>
              <a:t>函數的傳回值可以是另一個巢狀函數的執行結果</a:t>
            </a:r>
            <a:endParaRPr lang="en-US" altLang="zh-TW" sz="1600" dirty="0">
              <a:latin typeface="+mn-ea"/>
            </a:endParaRPr>
          </a:p>
          <a:p>
            <a:r>
              <a:rPr lang="en-US" altLang="zh-TW" sz="1600" dirty="0" err="1">
                <a:latin typeface="+mn-ea"/>
              </a:rPr>
              <a:t>init</a:t>
            </a:r>
            <a:r>
              <a:rPr lang="en-US" altLang="zh-TW" sz="1600" dirty="0">
                <a:latin typeface="+mn-ea"/>
              </a:rPr>
              <a:t>()</a:t>
            </a:r>
            <a:r>
              <a:rPr lang="zh-TW" altLang="en-US" sz="1600" dirty="0">
                <a:latin typeface="+mn-ea"/>
              </a:rPr>
              <a:t>巢狀函數之中擁有</a:t>
            </a:r>
            <a:r>
              <a:rPr lang="en-US" altLang="zh-TW" sz="1600" dirty="0" err="1">
                <a:latin typeface="+mn-ea"/>
              </a:rPr>
              <a:t>displayName</a:t>
            </a:r>
            <a:r>
              <a:rPr lang="en-US" altLang="zh-TW" sz="1600" dirty="0">
                <a:latin typeface="+mn-ea"/>
              </a:rPr>
              <a:t> ()</a:t>
            </a:r>
            <a:r>
              <a:rPr lang="zh-TW" altLang="en-US" sz="1600" dirty="0">
                <a:latin typeface="+mn-ea"/>
              </a:rPr>
              <a:t>函數，而函數的傳回值就是此函數的執行結果。</a:t>
            </a:r>
            <a:endParaRPr lang="en-US" altLang="zh-TW" sz="1600" dirty="0">
              <a:latin typeface="+mn-ea"/>
            </a:endParaRPr>
          </a:p>
          <a:p>
            <a:r>
              <a:rPr lang="en-US" altLang="zh-TW" sz="1600" dirty="0" err="1">
                <a:latin typeface="+mn-ea"/>
              </a:rPr>
              <a:t>displayName</a:t>
            </a:r>
            <a:r>
              <a:rPr lang="en-US" altLang="zh-TW" sz="1600" dirty="0">
                <a:latin typeface="+mn-ea"/>
              </a:rPr>
              <a:t>() </a:t>
            </a:r>
            <a:r>
              <a:rPr lang="zh-TW" altLang="en-US" sz="1600" dirty="0">
                <a:latin typeface="+mn-ea"/>
              </a:rPr>
              <a:t>自己並沒有局部變數，不過它可以訪問外面函式的變數、因而能取用在父函式宣告的變數 </a:t>
            </a:r>
            <a:r>
              <a:rPr lang="en-US" altLang="zh-TW" sz="1600" dirty="0">
                <a:latin typeface="+mn-ea"/>
              </a:rPr>
              <a:t>name</a:t>
            </a:r>
            <a:r>
              <a:rPr lang="zh-TW" altLang="en-US" sz="1600" dirty="0">
                <a:latin typeface="+mn-ea"/>
              </a:rPr>
              <a:t>。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91B5E-A4AA-4D4C-860F-E95980E6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8"/>
            <a:ext cx="184731" cy="421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13E399-8719-4F51-87D1-297E8DAC6B61}"/>
              </a:ext>
            </a:extLst>
          </p:cNvPr>
          <p:cNvSpPr/>
          <p:nvPr/>
        </p:nvSpPr>
        <p:spPr>
          <a:xfrm>
            <a:off x="229700" y="2622178"/>
            <a:ext cx="4392488" cy="21093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altLang="zh-TW" sz="1400" dirty="0">
                <a:solidFill>
                  <a:schemeClr val="tx1"/>
                </a:solidFill>
              </a:rPr>
              <a:t>function init() {</a:t>
            </a:r>
          </a:p>
          <a:p>
            <a:r>
              <a:rPr lang="da-DK" altLang="zh-TW" sz="1400" dirty="0">
                <a:solidFill>
                  <a:schemeClr val="tx1"/>
                </a:solidFill>
              </a:rPr>
              <a:t>  var name = "Mozilla"; // name </a:t>
            </a:r>
            <a:r>
              <a:rPr lang="zh-TW" altLang="en-US" sz="1400" dirty="0">
                <a:solidFill>
                  <a:schemeClr val="tx1"/>
                </a:solidFill>
              </a:rPr>
              <a:t>是個由 </a:t>
            </a:r>
            <a:r>
              <a:rPr lang="da-DK" altLang="zh-TW" sz="1400" dirty="0">
                <a:solidFill>
                  <a:schemeClr val="tx1"/>
                </a:solidFill>
              </a:rPr>
              <a:t>init </a:t>
            </a:r>
            <a:r>
              <a:rPr lang="zh-TW" altLang="en-US" sz="1400" dirty="0">
                <a:solidFill>
                  <a:schemeClr val="tx1"/>
                </a:solidFill>
              </a:rPr>
              <a:t>建立的局部變數</a:t>
            </a:r>
          </a:p>
          <a:p>
            <a:r>
              <a:rPr lang="zh-TW" altLang="en-US" sz="1400" dirty="0">
                <a:solidFill>
                  <a:schemeClr val="tx1"/>
                </a:solidFill>
              </a:rPr>
              <a:t>  </a:t>
            </a:r>
            <a:r>
              <a:rPr lang="da-DK" altLang="zh-TW" sz="1400" dirty="0">
                <a:solidFill>
                  <a:schemeClr val="tx1"/>
                </a:solidFill>
              </a:rPr>
              <a:t>function displayName() { // displayName() </a:t>
            </a:r>
            <a:r>
              <a:rPr lang="zh-TW" altLang="en-US" sz="1400" dirty="0">
                <a:solidFill>
                  <a:schemeClr val="tx1"/>
                </a:solidFill>
              </a:rPr>
              <a:t>是內部函式，一個閉包</a:t>
            </a:r>
          </a:p>
          <a:p>
            <a:r>
              <a:rPr lang="zh-TW" altLang="en-US" sz="1400" dirty="0">
                <a:solidFill>
                  <a:schemeClr val="tx1"/>
                </a:solidFill>
              </a:rPr>
              <a:t>    </a:t>
            </a:r>
            <a:r>
              <a:rPr lang="da-DK" altLang="zh-TW" sz="1400" dirty="0">
                <a:solidFill>
                  <a:schemeClr val="tx1"/>
                </a:solidFill>
              </a:rPr>
              <a:t>alert(name); // </a:t>
            </a:r>
            <a:r>
              <a:rPr lang="zh-TW" altLang="en-US" sz="1400" dirty="0">
                <a:solidFill>
                  <a:schemeClr val="tx1"/>
                </a:solidFill>
              </a:rPr>
              <a:t>使用了父函式宣告的變數</a:t>
            </a:r>
          </a:p>
          <a:p>
            <a:r>
              <a:rPr lang="zh-TW" altLang="en-US" sz="1400" dirty="0">
                <a:solidFill>
                  <a:schemeClr val="tx1"/>
                </a:solidFill>
              </a:rPr>
              <a:t>  </a:t>
            </a:r>
            <a:r>
              <a:rPr lang="en-US" altLang="zh-TW" sz="1400" dirty="0">
                <a:solidFill>
                  <a:schemeClr val="tx1"/>
                </a:solidFill>
              </a:rPr>
              <a:t>}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</a:t>
            </a:r>
            <a:r>
              <a:rPr lang="en-US" altLang="zh-TW" sz="1400" dirty="0">
                <a:solidFill>
                  <a:schemeClr val="tx1"/>
                </a:solidFill>
                <a:ea typeface="新細明體" panose="02020500000000000000" pitchFamily="18" charset="-120"/>
              </a:rPr>
              <a:t>return</a:t>
            </a:r>
            <a:r>
              <a:rPr lang="en-US" altLang="zh-TW" sz="1400" dirty="0">
                <a:solidFill>
                  <a:srgbClr val="FF3399"/>
                </a:solidFill>
                <a:ea typeface="新細明體" panose="02020500000000000000" pitchFamily="18" charset="-120"/>
              </a:rPr>
              <a:t> </a:t>
            </a:r>
            <a:r>
              <a:rPr lang="da-DK" altLang="zh-TW" sz="1400" dirty="0">
                <a:solidFill>
                  <a:schemeClr val="tx1"/>
                </a:solidFill>
              </a:rPr>
              <a:t>displayName();</a:t>
            </a:r>
          </a:p>
          <a:p>
            <a:r>
              <a:rPr lang="da-DK" altLang="zh-TW" sz="1400" dirty="0">
                <a:solidFill>
                  <a:schemeClr val="tx1"/>
                </a:solidFill>
              </a:rPr>
              <a:t>}</a:t>
            </a:r>
          </a:p>
          <a:p>
            <a:r>
              <a:rPr lang="da-DK" altLang="zh-TW" sz="1400" dirty="0">
                <a:solidFill>
                  <a:schemeClr val="tx1"/>
                </a:solidFill>
              </a:rPr>
              <a:t>init();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7F0B048-1990-49D1-9C61-2A32613A1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31" y="3309723"/>
            <a:ext cx="2090167" cy="62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22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遞迴函數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微軟正黑體" panose="020B0604030504040204" pitchFamily="34" charset="-120"/>
              </a:rPr>
              <a:t>遞迴是由上而下分析方法的一種特殊的情況，使用遞迴觀念建立的函數稱為遞迴函數，其基本定義如下所示：</a:t>
            </a:r>
            <a:r>
              <a:rPr lang="en-US" altLang="zh-TW" sz="1600" dirty="0">
                <a:latin typeface="微軟正黑體" panose="020B0604030504040204" pitchFamily="34" charset="-120"/>
              </a:rPr>
              <a:t/>
            </a:r>
            <a:br>
              <a:rPr lang="en-US" altLang="zh-TW" sz="1600" dirty="0">
                <a:latin typeface="微軟正黑體" panose="020B0604030504040204" pitchFamily="34" charset="-120"/>
              </a:rPr>
            </a:br>
            <a:r>
              <a:rPr lang="zh-TW" altLang="en-US" sz="1600" dirty="0">
                <a:solidFill>
                  <a:srgbClr val="FF0000"/>
                </a:solidFill>
                <a:latin typeface="微軟正黑體" panose="020B0604030504040204" pitchFamily="34" charset="-120"/>
              </a:rPr>
              <a:t>一個問題的內涵是由本身所定義的話，稱之為遞迴。</a:t>
            </a:r>
            <a:endParaRPr lang="en-US" altLang="zh-TW" sz="1600" dirty="0">
              <a:solidFill>
                <a:srgbClr val="FF0000"/>
              </a:solidFill>
              <a:latin typeface="微軟正黑體" panose="020B0604030504040204" pitchFamily="34" charset="-120"/>
            </a:endParaRPr>
          </a:p>
          <a:p>
            <a:r>
              <a:rPr lang="zh-TW" altLang="en-US" sz="1600" dirty="0">
                <a:latin typeface="微軟正黑體" panose="020B0604030504040204" pitchFamily="34" charset="-120"/>
              </a:rPr>
              <a:t>因為遞迴問題在分析時，其子問題本身和原來問題擁有相同的特性，只是範圍改變，範圍逐漸縮小到終止條件，所以可以歸納出遞迴函數的兩個特性：</a:t>
            </a:r>
          </a:p>
          <a:p>
            <a:pPr lvl="1"/>
            <a:r>
              <a:rPr lang="zh-TW" altLang="en-US" sz="1600" dirty="0">
                <a:latin typeface="微軟正黑體" panose="020B0604030504040204" pitchFamily="34" charset="-120"/>
              </a:rPr>
              <a:t>遞迴函數在每次呼叫時，都可以使問題範圍逐漸縮小。</a:t>
            </a:r>
          </a:p>
          <a:p>
            <a:pPr lvl="1"/>
            <a:r>
              <a:rPr lang="zh-TW" altLang="en-US" sz="1600" dirty="0">
                <a:latin typeface="微軟正黑體" panose="020B0604030504040204" pitchFamily="34" charset="-120"/>
              </a:rPr>
              <a:t>遞迴函數需要擁有終止條件，以便結束遞迴函數的執行。</a:t>
            </a:r>
          </a:p>
          <a:p>
            <a:endParaRPr lang="zh-TW" altLang="en-US" sz="1600" dirty="0">
              <a:latin typeface="微軟正黑體" panose="020B0604030504040204" pitchFamily="34" charset="-120"/>
            </a:endParaRPr>
          </a:p>
          <a:p>
            <a:endParaRPr lang="zh-TW" altLang="en-US" sz="1600" dirty="0">
              <a:latin typeface="微軟正黑體" panose="020B0604030504040204" pitchFamily="34" charset="-12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91B5E-A4AA-4D4C-860F-E95980E6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8"/>
            <a:ext cx="184731" cy="421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133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遞迴條件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+mn-ea"/>
              </a:rPr>
              <a:t>在程式語言的世界中，遞迴簡單來說，就是一 個函數在定義中呼叫自己。</a:t>
            </a:r>
            <a:endParaRPr lang="en-US" altLang="zh-TW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一個遞迴如果沒有終止條件</a:t>
            </a:r>
            <a:r>
              <a:rPr lang="zh-TW" altLang="en-US" sz="1600" dirty="0">
                <a:latin typeface="+mn-ea"/>
              </a:rPr>
              <a:t>，</a:t>
            </a:r>
            <a:r>
              <a:rPr lang="ko-KR" altLang="en-US" sz="1600" dirty="0">
                <a:latin typeface="+mn-ea"/>
              </a:rPr>
              <a:t>那它就會先呼叫自己 然後自己呼叫的自己再呼叫自己 然後自己呼叫的自己呼叫的自己再呼叫自己 然後自己呼叫的自己呼叫的自己呼叫的自己再呼叫自己</a:t>
            </a:r>
            <a:endParaRPr lang="en-US" altLang="ko-KR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初始</a:t>
            </a:r>
            <a:r>
              <a:rPr lang="en-US" altLang="zh-TW" sz="1600" dirty="0">
                <a:latin typeface="+mn-ea"/>
              </a:rPr>
              <a:t>(</a:t>
            </a:r>
            <a:r>
              <a:rPr lang="zh-TW" altLang="en-US" sz="1600" dirty="0">
                <a:latin typeface="+mn-ea"/>
              </a:rPr>
              <a:t>終止</a:t>
            </a:r>
            <a:r>
              <a:rPr lang="en-US" altLang="zh-TW" sz="1600" dirty="0">
                <a:latin typeface="+mn-ea"/>
              </a:rPr>
              <a:t>)</a:t>
            </a:r>
            <a:r>
              <a:rPr lang="zh-TW" altLang="en-US" sz="1600" dirty="0">
                <a:latin typeface="+mn-ea"/>
              </a:rPr>
              <a:t>條件</a:t>
            </a:r>
            <a:r>
              <a:rPr lang="en-US" altLang="zh-TW" sz="1600" dirty="0">
                <a:latin typeface="+mn-ea"/>
              </a:rPr>
              <a:t>:</a:t>
            </a:r>
            <a:r>
              <a:rPr lang="zh-TW" altLang="en-US" sz="1600" dirty="0">
                <a:latin typeface="+mn-ea"/>
              </a:rPr>
              <a:t>如果沒有初始條件，遞迴函數永遠也跑不完 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zh-TW" altLang="en-US" sz="1600" dirty="0">
                <a:latin typeface="+mn-ea"/>
              </a:rPr>
              <a:t>遞迴條件</a:t>
            </a:r>
            <a:r>
              <a:rPr lang="en-US" altLang="zh-TW" sz="1600" dirty="0">
                <a:latin typeface="+mn-ea"/>
              </a:rPr>
              <a:t>:</a:t>
            </a:r>
            <a:r>
              <a:rPr lang="zh-TW" altLang="en-US" sz="1600" dirty="0">
                <a:latin typeface="+mn-ea"/>
              </a:rPr>
              <a:t>如果沒有遞迴條件，就只是普通的函數了</a:t>
            </a:r>
          </a:p>
          <a:p>
            <a:endParaRPr lang="zh-TW" altLang="en-US" sz="1600" dirty="0">
              <a:latin typeface="+mn-ea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91B5E-A4AA-4D4C-860F-E95980E6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8"/>
            <a:ext cx="184731" cy="421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8849F5-EE18-4F37-BBFF-2CCB44B567D1}"/>
              </a:ext>
            </a:extLst>
          </p:cNvPr>
          <p:cNvSpPr/>
          <p:nvPr/>
        </p:nvSpPr>
        <p:spPr>
          <a:xfrm>
            <a:off x="1990841" y="3517380"/>
            <a:ext cx="2876318" cy="11152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function a(n)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 if (n == 0) {  //</a:t>
            </a:r>
            <a:r>
              <a:rPr lang="ko-KR" altLang="en-US" sz="1200" dirty="0">
                <a:solidFill>
                  <a:schemeClr val="tx1"/>
                </a:solidFill>
              </a:rPr>
              <a:t>終止條件裡面沒有遞迴</a:t>
            </a:r>
            <a:endParaRPr lang="en-US" altLang="zh-TW" sz="1200" dirty="0">
              <a:solidFill>
                <a:schemeClr val="tx1"/>
              </a:solidFill>
            </a:endParaRPr>
          </a:p>
          <a:p>
            <a:r>
              <a:rPr lang="en-US" altLang="zh-TW" sz="1200" dirty="0">
                <a:solidFill>
                  <a:schemeClr val="tx1"/>
                </a:solidFill>
              </a:rPr>
              <a:t>        return 1;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 }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 return n * a(n - 1);  //</a:t>
            </a:r>
            <a:r>
              <a:rPr lang="ko-KR" altLang="en-US" sz="1200" dirty="0">
                <a:solidFill>
                  <a:schemeClr val="tx1"/>
                </a:solidFill>
              </a:rPr>
              <a:t>遞迴條件</a:t>
            </a:r>
            <a:endParaRPr lang="en-US" altLang="zh-TW" sz="1200" dirty="0">
              <a:solidFill>
                <a:schemeClr val="tx1"/>
              </a:solidFill>
            </a:endParaRPr>
          </a:p>
          <a:p>
            <a:r>
              <a:rPr lang="en-US" altLang="zh-TW" sz="12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4796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BFBB1B-1813-401C-A5E6-ACE05FAC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遞迴涵式</a:t>
            </a:r>
            <a:r>
              <a:rPr lang="en-US" altLang="zh-TW" sz="2800" dirty="0"/>
              <a:t>-</a:t>
            </a:r>
            <a:r>
              <a:rPr lang="zh-TW" altLang="en-US" sz="2800" dirty="0"/>
              <a:t>階層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F32351-5A5C-4216-B498-9EB4C1EA06D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9486" y="1275606"/>
            <a:ext cx="6115050" cy="3600400"/>
          </a:xfrm>
        </p:spPr>
        <p:txBody>
          <a:bodyPr/>
          <a:lstStyle/>
          <a:p>
            <a:pPr marL="0" indent="0">
              <a:buNone/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DAAA820-D604-48AC-9887-4ECD6B6F54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CE1C89-1F72-477A-A392-453957BD96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A38059E0-9BBD-480B-AF36-AA78B80CD55C}"/>
              </a:ext>
            </a:extLst>
          </p:cNvPr>
          <p:cNvSpPr txBox="1">
            <a:spLocks/>
          </p:cNvSpPr>
          <p:nvPr/>
        </p:nvSpPr>
        <p:spPr bwMode="auto">
          <a:xfrm>
            <a:off x="459486" y="1200150"/>
            <a:ext cx="611505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9316" indent="-239316" algn="l" rtl="0" eaLnBrk="1" fontAlgn="base" hangingPunct="1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1" fontAlgn="base" hangingPunct="1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600" dirty="0">
                <a:latin typeface="+mn-ea"/>
              </a:rPr>
              <a:t>遞迴最常見的應用是數學上定義的階層函數</a:t>
            </a:r>
            <a:r>
              <a:rPr lang="en-US" altLang="zh-TW" sz="1600" dirty="0">
                <a:latin typeface="+mn-ea"/>
              </a:rPr>
              <a:t>n! </a:t>
            </a:r>
            <a:r>
              <a:rPr lang="zh-TW" altLang="en-US" sz="1600" dirty="0">
                <a:latin typeface="+mn-ea"/>
              </a:rPr>
              <a:t>舉例來說計算</a:t>
            </a:r>
            <a:r>
              <a:rPr lang="en-US" altLang="zh-TW" sz="1600" dirty="0">
                <a:latin typeface="+mn-ea"/>
              </a:rPr>
              <a:t>4!</a:t>
            </a:r>
            <a:r>
              <a:rPr lang="zh-TW" altLang="en-US" sz="1600" dirty="0">
                <a:latin typeface="+mn-ea"/>
              </a:rPr>
              <a:t>的值，從上述定義</a:t>
            </a:r>
            <a:r>
              <a:rPr lang="en-US" altLang="zh-TW" sz="1600" dirty="0">
                <a:latin typeface="+mn-ea"/>
              </a:rPr>
              <a:t>n&gt;0</a:t>
            </a:r>
            <a:r>
              <a:rPr lang="zh-TW" altLang="en-US" sz="1600" dirty="0">
                <a:latin typeface="+mn-ea"/>
              </a:rPr>
              <a:t>，可以使用</a:t>
            </a:r>
            <a:r>
              <a:rPr lang="en-US" altLang="zh-TW" sz="1600" dirty="0">
                <a:latin typeface="+mn-ea"/>
              </a:rPr>
              <a:t>n!</a:t>
            </a:r>
            <a:r>
              <a:rPr lang="zh-TW" altLang="en-US" sz="1600" dirty="0">
                <a:latin typeface="+mn-ea"/>
              </a:rPr>
              <a:t>定義的第</a:t>
            </a:r>
            <a:r>
              <a:rPr lang="en-US" altLang="zh-TW" sz="1600" dirty="0">
                <a:latin typeface="+mn-ea"/>
              </a:rPr>
              <a:t>2</a:t>
            </a:r>
            <a:r>
              <a:rPr lang="zh-TW" altLang="en-US" sz="1600" dirty="0">
                <a:latin typeface="+mn-ea"/>
              </a:rPr>
              <a:t>條計算階層函數</a:t>
            </a:r>
            <a:r>
              <a:rPr lang="en-US" altLang="zh-TW" sz="1600" dirty="0">
                <a:latin typeface="+mn-ea"/>
              </a:rPr>
              <a:t>4!</a:t>
            </a:r>
            <a:r>
              <a:rPr lang="zh-TW" altLang="en-US" sz="1600" dirty="0">
                <a:latin typeface="+mn-ea"/>
              </a:rPr>
              <a:t>的值，如下所示：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4!=4*3*2*1=24</a:t>
            </a:r>
          </a:p>
          <a:p>
            <a:r>
              <a:rPr lang="zh-TW" altLang="en-US" sz="1600" dirty="0">
                <a:latin typeface="+mn-ea"/>
              </a:rPr>
              <a:t>又可以將</a:t>
            </a:r>
            <a:r>
              <a:rPr lang="en-US" altLang="zh-TW" sz="1600" dirty="0">
                <a:latin typeface="+mn-ea"/>
              </a:rPr>
              <a:t>4!</a:t>
            </a:r>
            <a:r>
              <a:rPr lang="zh-TW" altLang="en-US" sz="1600" dirty="0">
                <a:latin typeface="+mn-ea"/>
              </a:rPr>
              <a:t>的計算分解成子問題：</a:t>
            </a: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/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4!=4*(4-1)!=4*3!</a:t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3! = 3*(3-1)! = 3*2!</a:t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2! = 2*(2-1)! = 2*1!</a:t>
            </a:r>
            <a:br>
              <a:rPr lang="en-US" altLang="zh-TW" sz="1600" dirty="0">
                <a:latin typeface="+mn-ea"/>
              </a:rPr>
            </a:br>
            <a:r>
              <a:rPr lang="en-US" altLang="zh-TW" sz="1600" dirty="0">
                <a:latin typeface="+mn-ea"/>
              </a:rPr>
              <a:t>1! = 1*(1-1)! = 1*0! = 1</a:t>
            </a:r>
          </a:p>
          <a:p>
            <a:endParaRPr lang="en-US" altLang="zh-TW" sz="1600" dirty="0">
              <a:latin typeface="+mn-ea"/>
            </a:endParaRPr>
          </a:p>
          <a:p>
            <a:r>
              <a:rPr lang="zh-TW" altLang="en-US" sz="1600" dirty="0">
                <a:latin typeface="+mn-ea"/>
              </a:rPr>
              <a:t>當範圍改變逐漸縮小到一個終止條件，階層函數值也就計算出來了。</a:t>
            </a:r>
          </a:p>
          <a:p>
            <a:endParaRPr lang="en-US" altLang="zh-TW" sz="1600" dirty="0">
              <a:latin typeface="+mn-ea"/>
            </a:endParaRPr>
          </a:p>
          <a:p>
            <a:endParaRPr lang="en-US" altLang="zh-TW" sz="1600" dirty="0">
              <a:latin typeface="+mn-ea"/>
            </a:endParaRPr>
          </a:p>
          <a:p>
            <a:pPr marL="0" indent="0">
              <a:buNone/>
            </a:pPr>
            <a:endParaRPr lang="zh-TW" altLang="en-US" sz="1600" dirty="0">
              <a:latin typeface="+mn-ea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7691B5E-A4AA-4D4C-860F-E95980E6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988"/>
            <a:ext cx="184731" cy="421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14283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8849F5-EE18-4F37-BBFF-2CCB44B567D1}"/>
              </a:ext>
            </a:extLst>
          </p:cNvPr>
          <p:cNvSpPr/>
          <p:nvPr/>
        </p:nvSpPr>
        <p:spPr>
          <a:xfrm>
            <a:off x="3356992" y="2752676"/>
            <a:ext cx="2876318" cy="11152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200" dirty="0">
                <a:solidFill>
                  <a:schemeClr val="tx1"/>
                </a:solidFill>
              </a:rPr>
              <a:t>function a(n) {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 if (n == 0) {  //</a:t>
            </a:r>
            <a:r>
              <a:rPr lang="ko-KR" altLang="en-US" sz="1200" dirty="0">
                <a:solidFill>
                  <a:schemeClr val="tx1"/>
                </a:solidFill>
              </a:rPr>
              <a:t>終止條件裡面沒有遞迴</a:t>
            </a:r>
            <a:endParaRPr lang="en-US" altLang="zh-TW" sz="1200" dirty="0">
              <a:solidFill>
                <a:schemeClr val="tx1"/>
              </a:solidFill>
            </a:endParaRPr>
          </a:p>
          <a:p>
            <a:r>
              <a:rPr lang="en-US" altLang="zh-TW" sz="1200" dirty="0">
                <a:solidFill>
                  <a:schemeClr val="tx1"/>
                </a:solidFill>
              </a:rPr>
              <a:t>        return 1;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 }</a:t>
            </a:r>
          </a:p>
          <a:p>
            <a:r>
              <a:rPr lang="en-US" altLang="zh-TW" sz="1200" dirty="0">
                <a:solidFill>
                  <a:schemeClr val="tx1"/>
                </a:solidFill>
              </a:rPr>
              <a:t>    return n * a(n - 1);  //</a:t>
            </a:r>
            <a:r>
              <a:rPr lang="ko-KR" altLang="en-US" sz="1200" dirty="0">
                <a:solidFill>
                  <a:schemeClr val="tx1"/>
                </a:solidFill>
              </a:rPr>
              <a:t>遞迴條件</a:t>
            </a:r>
            <a:endParaRPr lang="en-US" altLang="zh-TW" sz="1200" dirty="0">
              <a:solidFill>
                <a:schemeClr val="tx1"/>
              </a:solidFill>
            </a:endParaRPr>
          </a:p>
          <a:p>
            <a:r>
              <a:rPr lang="en-US" altLang="zh-TW" sz="12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5924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DE1E3-E6ED-475F-A0AF-77705B52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Lab03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607253-3E26-4312-ADAB-976CD0341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FAAD6B-D15A-4B5D-AA8D-846AD275C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884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5DE1E3-E6ED-475F-A0AF-77705B52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Lab03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607253-3E26-4312-ADAB-976CD03412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zh-TW" altLang="en-US"/>
              <a:t>國立雲林科技大學 互動多媒體設計實驗室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FAAD6B-D15A-4B5D-AA8D-846AD275CE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1F3F81-B14A-46F6-8DE3-A694209316C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BA9146-F632-4CE7-B880-BE2C2D0F2C49}"/>
              </a:ext>
            </a:extLst>
          </p:cNvPr>
          <p:cNvSpPr/>
          <p:nvPr/>
        </p:nvSpPr>
        <p:spPr>
          <a:xfrm>
            <a:off x="260652" y="1283792"/>
            <a:ext cx="691276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/>
              <a:t>&lt;body&gt;</a:t>
            </a:r>
          </a:p>
          <a:p>
            <a:r>
              <a:rPr lang="zh-TW" altLang="en-US" sz="1600" dirty="0"/>
              <a:t>    &lt;p id="demo"&gt;&lt;/p&gt;</a:t>
            </a:r>
          </a:p>
          <a:p>
            <a:r>
              <a:rPr lang="zh-TW" altLang="en-US" sz="1600" dirty="0"/>
              <a:t>    &lt;p&gt;請輸入華氏溫度&lt;input type="text" id='fahrenheitId'&gt;度&lt;/p&gt;</a:t>
            </a:r>
          </a:p>
          <a:p>
            <a:r>
              <a:rPr lang="zh-TW" altLang="en-US" sz="1600" dirty="0"/>
              <a:t>    &lt;p&gt;&lt;button onclick="toCelsius(f)"&gt;轉換成攝氏&lt;/button&gt;&lt;/p&gt;</a:t>
            </a:r>
          </a:p>
          <a:p>
            <a:r>
              <a:rPr lang="zh-TW" altLang="en-US" sz="1600" dirty="0"/>
              <a:t>    &lt;p&gt;得出的攝氏溫度為&lt;em id='totalId'&gt;&lt;/em&gt;度。&lt;/p&gt;     </a:t>
            </a:r>
          </a:p>
          <a:p>
            <a:r>
              <a:rPr lang="zh-TW" altLang="en-US" sz="1600" dirty="0"/>
              <a:t>      &lt;script&gt; </a:t>
            </a:r>
          </a:p>
          <a:p>
            <a:r>
              <a:rPr lang="zh-TW" altLang="en-US" sz="1600" dirty="0"/>
              <a:t>    var f; </a:t>
            </a:r>
          </a:p>
          <a:p>
            <a:r>
              <a:rPr lang="zh-TW" altLang="en-US" sz="1600" dirty="0"/>
              <a:t>    function toCelsius(f) {</a:t>
            </a:r>
          </a:p>
          <a:p>
            <a:r>
              <a:rPr lang="zh-TW" altLang="en-US" sz="1600" dirty="0"/>
              <a:t>          var f = parseInt(document.getElementById('fahrenheitId').value);</a:t>
            </a:r>
          </a:p>
          <a:p>
            <a:r>
              <a:rPr lang="zh-TW" altLang="en-US" sz="1600" dirty="0"/>
              <a:t>          var c = (5/9) * (f-32);          </a:t>
            </a:r>
          </a:p>
          <a:p>
            <a:r>
              <a:rPr lang="zh-TW" altLang="en-US" sz="1600" dirty="0"/>
              <a:t>          document.getElementById('totalId').textContent = c.toFixed(2);                 </a:t>
            </a:r>
          </a:p>
          <a:p>
            <a:r>
              <a:rPr lang="zh-TW" altLang="en-US" sz="1600" dirty="0"/>
              <a:t>          }          </a:t>
            </a:r>
          </a:p>
          <a:p>
            <a:r>
              <a:rPr lang="zh-TW" altLang="en-US" sz="1600" dirty="0"/>
              <a:t>      &lt;/script&gt;  </a:t>
            </a:r>
          </a:p>
          <a:p>
            <a:r>
              <a:rPr lang="zh-TW" altLang="en-US" sz="1600" dirty="0"/>
              <a:t>    &lt;/body&gt;</a:t>
            </a:r>
          </a:p>
        </p:txBody>
      </p:sp>
    </p:spTree>
    <p:extLst>
      <p:ext uri="{BB962C8B-B14F-4D97-AF65-F5344CB8AC3E}">
        <p14:creationId xmlns:p14="http://schemas.microsoft.com/office/powerpoint/2010/main" val="4029844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ab教學用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庸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中庸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ab教學用" id="{EB944EAC-5C47-4CDA-AF4C-F071AD6F8022}" vid="{34C89FF1-FF8F-49D0-8EFD-BCAD4B2623C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中庸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4424</TotalTime>
  <Words>1755</Words>
  <Application>Microsoft Office PowerPoint</Application>
  <PresentationFormat>自訂</PresentationFormat>
  <Paragraphs>207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3" baseType="lpstr">
      <vt:lpstr>HY얕은샘물M</vt:lpstr>
      <vt:lpstr>微軟正黑體</vt:lpstr>
      <vt:lpstr>新細明體</vt:lpstr>
      <vt:lpstr>Arial</vt:lpstr>
      <vt:lpstr>Calibri</vt:lpstr>
      <vt:lpstr>Candara</vt:lpstr>
      <vt:lpstr>Tw Cen MT</vt:lpstr>
      <vt:lpstr>Wingdings</vt:lpstr>
      <vt:lpstr>Wingdings 2</vt:lpstr>
      <vt:lpstr>Lab教學用</vt:lpstr>
      <vt:lpstr>流程語法與函式</vt:lpstr>
      <vt:lpstr>函數的基礎</vt:lpstr>
      <vt:lpstr>基礎說明</vt:lpstr>
      <vt:lpstr>函數是一個黑盒子</vt:lpstr>
      <vt:lpstr>基礎說明</vt:lpstr>
      <vt:lpstr>建立涵式</vt:lpstr>
      <vt:lpstr>JavaScript自訂函式</vt:lpstr>
      <vt:lpstr>變數種類</vt:lpstr>
      <vt:lpstr>Lab01</vt:lpstr>
      <vt:lpstr>Lab01</vt:lpstr>
      <vt:lpstr>有參數的函式</vt:lpstr>
      <vt:lpstr>函式的傳回值</vt:lpstr>
      <vt:lpstr>函式的傳回值</vt:lpstr>
      <vt:lpstr>Lab02</vt:lpstr>
      <vt:lpstr>Lab02</vt:lpstr>
      <vt:lpstr>Lab02</vt:lpstr>
      <vt:lpstr>函數運算式</vt:lpstr>
      <vt:lpstr>巢狀函數</vt:lpstr>
      <vt:lpstr>遞迴函數</vt:lpstr>
      <vt:lpstr>遞迴條件</vt:lpstr>
      <vt:lpstr>遞迴涵式-階層</vt:lpstr>
      <vt:lpstr>Lab03</vt:lpstr>
      <vt:lpstr>Lab03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型態、變數與運算子_邏輯分析與程式設計_20200318</dc:title>
  <dc:creator>iued</dc:creator>
  <cp:lastModifiedBy>ASUS</cp:lastModifiedBy>
  <cp:revision>360</cp:revision>
  <dcterms:created xsi:type="dcterms:W3CDTF">2014-10-01T05:36:32Z</dcterms:created>
  <dcterms:modified xsi:type="dcterms:W3CDTF">2021-03-09T03:51:12Z</dcterms:modified>
</cp:coreProperties>
</file>