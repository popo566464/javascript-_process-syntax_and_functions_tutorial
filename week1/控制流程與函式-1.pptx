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34"/>
  </p:notesMasterIdLst>
  <p:sldIdLst>
    <p:sldId id="258" r:id="rId2"/>
    <p:sldId id="267" r:id="rId3"/>
    <p:sldId id="264" r:id="rId4"/>
    <p:sldId id="270" r:id="rId5"/>
    <p:sldId id="268" r:id="rId6"/>
    <p:sldId id="271" r:id="rId7"/>
    <p:sldId id="272" r:id="rId8"/>
    <p:sldId id="273" r:id="rId9"/>
    <p:sldId id="274" r:id="rId10"/>
    <p:sldId id="275" r:id="rId11"/>
    <p:sldId id="277" r:id="rId12"/>
    <p:sldId id="276" r:id="rId13"/>
    <p:sldId id="278" r:id="rId14"/>
    <p:sldId id="279" r:id="rId15"/>
    <p:sldId id="296" r:id="rId16"/>
    <p:sldId id="297" r:id="rId17"/>
    <p:sldId id="288" r:id="rId18"/>
    <p:sldId id="289" r:id="rId19"/>
    <p:sldId id="290" r:id="rId20"/>
    <p:sldId id="282" r:id="rId21"/>
    <p:sldId id="281" r:id="rId22"/>
    <p:sldId id="298" r:id="rId23"/>
    <p:sldId id="283" r:id="rId24"/>
    <p:sldId id="284" r:id="rId25"/>
    <p:sldId id="285" r:id="rId26"/>
    <p:sldId id="286" r:id="rId27"/>
    <p:sldId id="299" r:id="rId28"/>
    <p:sldId id="287" r:id="rId29"/>
    <p:sldId id="292" r:id="rId30"/>
    <p:sldId id="293" r:id="rId31"/>
    <p:sldId id="294" r:id="rId32"/>
    <p:sldId id="295" r:id="rId33"/>
  </p:sldIdLst>
  <p:sldSz cx="6858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6F72E4EA-7B87-4AEC-B972-1AE273A4B81A}">
          <p14:sldIdLst>
            <p14:sldId id="258"/>
            <p14:sldId id="267"/>
            <p14:sldId id="264"/>
            <p14:sldId id="270"/>
            <p14:sldId id="268"/>
            <p14:sldId id="271"/>
            <p14:sldId id="272"/>
            <p14:sldId id="273"/>
            <p14:sldId id="274"/>
            <p14:sldId id="275"/>
            <p14:sldId id="277"/>
            <p14:sldId id="276"/>
            <p14:sldId id="278"/>
            <p14:sldId id="279"/>
            <p14:sldId id="296"/>
            <p14:sldId id="297"/>
            <p14:sldId id="288"/>
            <p14:sldId id="289"/>
            <p14:sldId id="290"/>
            <p14:sldId id="282"/>
            <p14:sldId id="281"/>
            <p14:sldId id="298"/>
            <p14:sldId id="283"/>
            <p14:sldId id="284"/>
            <p14:sldId id="285"/>
            <p14:sldId id="286"/>
            <p14:sldId id="299"/>
            <p14:sldId id="287"/>
            <p14:sldId id="292"/>
            <p14:sldId id="293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E40"/>
    <a:srgbClr val="009A46"/>
    <a:srgbClr val="F17C69"/>
    <a:srgbClr val="FF3300"/>
    <a:srgbClr val="0076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256" autoAdjust="0"/>
  </p:normalViewPr>
  <p:slideViewPr>
    <p:cSldViewPr>
      <p:cViewPr varScale="1">
        <p:scale>
          <a:sx n="152" d="100"/>
          <a:sy n="152" d="100"/>
        </p:scale>
        <p:origin x="1530" y="138"/>
      </p:cViewPr>
      <p:guideLst>
        <p:guide orient="horz" pos="16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E2EF8-1D33-4847-BD22-7061247669A4}" type="datetimeFigureOut">
              <a:rPr lang="zh-TW" altLang="en-US" smtClean="0"/>
              <a:t>2021/3/7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1B56A6-7D0C-4DB1-A629-03C237B527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9302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white">
          <a:xfrm>
            <a:off x="0" y="4477941"/>
            <a:ext cx="6858000" cy="665559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5" name="矩形 4"/>
          <p:cNvSpPr/>
          <p:nvPr/>
        </p:nvSpPr>
        <p:spPr>
          <a:xfrm>
            <a:off x="-7144" y="4539854"/>
            <a:ext cx="1687116" cy="53459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6" name="矩形 5"/>
          <p:cNvSpPr/>
          <p:nvPr/>
        </p:nvSpPr>
        <p:spPr>
          <a:xfrm>
            <a:off x="1769269" y="4532710"/>
            <a:ext cx="5088731" cy="535781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1232863" y="1491630"/>
            <a:ext cx="4392274" cy="1371600"/>
          </a:xfrm>
        </p:spPr>
        <p:txBody>
          <a:bodyPr anchor="ctr"/>
          <a:lstStyle>
            <a:lvl1pPr algn="ctr">
              <a:defRPr cap="all" baseline="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2560320" y="4537528"/>
            <a:ext cx="4240530" cy="514350"/>
          </a:xfrm>
        </p:spPr>
        <p:txBody>
          <a:bodyPr anchor="ctr">
            <a:normAutofit/>
          </a:bodyPr>
          <a:lstStyle>
            <a:lvl1pPr marL="0" indent="0" algn="l">
              <a:buNone/>
              <a:defRPr sz="1950">
                <a:solidFill>
                  <a:srgbClr val="FFFFFF"/>
                </a:solidFill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lang="zh-TW" altLang="en-US" dirty="0"/>
              <a:t>按一下以編輯母片副標題樣式</a:t>
            </a:r>
            <a:endParaRPr lang="en-US" dirty="0"/>
          </a:p>
        </p:txBody>
      </p:sp>
      <p:sp>
        <p:nvSpPr>
          <p:cNvPr id="7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57150" y="4551760"/>
            <a:ext cx="1543050" cy="514350"/>
          </a:xfrm>
          <a:prstGeom prst="rect">
            <a:avLst/>
          </a:prstGeom>
        </p:spPr>
        <p:txBody>
          <a:bodyPr vert="horz" anchor="ctr" anchorCtr="0">
            <a:noAutofit/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0" sz="150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endParaRPr lang="en-US" dirty="0"/>
          </a:p>
        </p:txBody>
      </p:sp>
      <p:sp>
        <p:nvSpPr>
          <p:cNvPr id="10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1237298" y="195486"/>
            <a:ext cx="4400550" cy="273844"/>
          </a:xfr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12" name="文字方塊 1">
            <a:extLst>
              <a:ext uri="{FF2B5EF4-FFF2-40B4-BE49-F238E27FC236}">
                <a16:creationId xmlns:a16="http://schemas.microsoft.com/office/drawing/2014/main" id="{ED047054-D01D-4E55-B027-28E3BECF14E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3580771"/>
            <a:ext cx="6858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+mn-ea"/>
                <a:ea typeface="+mn-ea"/>
              </a:rPr>
              <a:t>國立雲林科技大學</a:t>
            </a:r>
            <a:endParaRPr lang="en-US" altLang="zh-TW" sz="2000" dirty="0">
              <a:latin typeface="+mn-ea"/>
              <a:ea typeface="+mn-ea"/>
            </a:endParaRP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zh-TW" altLang="en-US" sz="2000" dirty="0">
                <a:latin typeface="+mn-ea"/>
                <a:ea typeface="+mn-ea"/>
              </a:rPr>
              <a:t>王照明老師</a:t>
            </a:r>
          </a:p>
        </p:txBody>
      </p:sp>
      <p:sp>
        <p:nvSpPr>
          <p:cNvPr id="13" name="文字方塊 1">
            <a:extLst>
              <a:ext uri="{FF2B5EF4-FFF2-40B4-BE49-F238E27FC236}">
                <a16:creationId xmlns:a16="http://schemas.microsoft.com/office/drawing/2014/main" id="{419566E3-9171-4988-80CD-963EB5B7303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764020" y="4605473"/>
            <a:ext cx="7963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+mn-ea"/>
                <a:ea typeface="+mn-ea"/>
              </a:rPr>
              <a:t>助教：</a:t>
            </a:r>
          </a:p>
        </p:txBody>
      </p:sp>
    </p:spTree>
    <p:extLst>
      <p:ext uri="{BB962C8B-B14F-4D97-AF65-F5344CB8AC3E}">
        <p14:creationId xmlns:p14="http://schemas.microsoft.com/office/powerpoint/2010/main" val="1374161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9486" y="171450"/>
            <a:ext cx="6115050" cy="7429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459486" y="1200150"/>
            <a:ext cx="6115050" cy="33718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頁尾版面配置區 2"/>
          <p:cNvSpPr>
            <a:spLocks noGrp="1"/>
          </p:cNvSpPr>
          <p:nvPr>
            <p:ph type="ftr" sz="quarter" idx="10"/>
          </p:nvPr>
        </p:nvSpPr>
        <p:spPr>
          <a:xfrm>
            <a:off x="1484784" y="4914900"/>
            <a:ext cx="4065985" cy="182569"/>
          </a:xfrm>
        </p:spPr>
        <p:txBody>
          <a:bodyPr/>
          <a:lstStyle>
            <a:lvl1pPr>
              <a:defRPr/>
            </a:lvl1pPr>
          </a:lstStyle>
          <a:p>
            <a:pPr algn="ctr"/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5" name="投影片編號版面配置區 22"/>
          <p:cNvSpPr>
            <a:spLocks noGrp="1"/>
          </p:cNvSpPr>
          <p:nvPr>
            <p:ph type="sldNum" sz="quarter" idx="11"/>
          </p:nvPr>
        </p:nvSpPr>
        <p:spPr>
          <a:xfrm>
            <a:off x="3316986" y="4731544"/>
            <a:ext cx="400050" cy="183356"/>
          </a:xfrm>
        </p:spPr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8B1F3F81-B14A-46F6-8DE3-A694209316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677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white">
          <a:xfrm>
            <a:off x="0" y="1143000"/>
            <a:ext cx="6858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5" name="矩形 4"/>
          <p:cNvSpPr/>
          <p:nvPr/>
        </p:nvSpPr>
        <p:spPr>
          <a:xfrm>
            <a:off x="0" y="1200150"/>
            <a:ext cx="97155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6" name="矩形 5"/>
          <p:cNvSpPr/>
          <p:nvPr/>
        </p:nvSpPr>
        <p:spPr>
          <a:xfrm>
            <a:off x="1028700" y="1200150"/>
            <a:ext cx="58293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028700" y="2057400"/>
            <a:ext cx="5342335" cy="1254919"/>
          </a:xfrm>
        </p:spPr>
        <p:txBody>
          <a:bodyPr/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28700" y="1200150"/>
            <a:ext cx="5715000" cy="742950"/>
          </a:xfrm>
        </p:spPr>
        <p:txBody>
          <a:bodyPr/>
          <a:lstStyle>
            <a:lvl1pPr algn="l">
              <a:buNone/>
              <a:defRPr sz="3300" b="0" cap="none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投影片編號版面配置區 12"/>
          <p:cNvSpPr>
            <a:spLocks noGrp="1"/>
          </p:cNvSpPr>
          <p:nvPr>
            <p:ph type="sldNum" sz="quarter" idx="10"/>
          </p:nvPr>
        </p:nvSpPr>
        <p:spPr>
          <a:xfrm>
            <a:off x="0" y="1314451"/>
            <a:ext cx="971550" cy="526256"/>
          </a:xfrm>
        </p:spPr>
        <p:txBody>
          <a:bodyPr>
            <a:noAutofit/>
          </a:bodyPr>
          <a:lstStyle>
            <a:lvl1pPr>
              <a:defRPr sz="1800" smtClean="0"/>
            </a:lvl1pPr>
          </a:lstStyle>
          <a:p>
            <a:fld id="{8B1F3F81-B14A-46F6-8DE3-A694209316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頁尾版面配置區 1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國立雲林科技大學 互動多媒體設計實驗室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5257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457200" y="1192175"/>
            <a:ext cx="2914650" cy="3429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3633676" y="1192175"/>
            <a:ext cx="2914650" cy="3429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algn="ctr"/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A6BB9F5-2E8E-4E72-9583-D2F961C7A6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7882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00050" y="204787"/>
            <a:ext cx="6115050" cy="652463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57200" y="1828800"/>
            <a:ext cx="2914650" cy="26860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3600450" y="1828800"/>
            <a:ext cx="2914650" cy="26860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6" name="文字版面配置區 15"/>
          <p:cNvSpPr>
            <a:spLocks noGrp="1"/>
          </p:cNvSpPr>
          <p:nvPr>
            <p:ph type="body" sz="quarter" idx="1"/>
          </p:nvPr>
        </p:nvSpPr>
        <p:spPr>
          <a:xfrm>
            <a:off x="457200" y="1314450"/>
            <a:ext cx="2914650" cy="48006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5" name="文字版面配置區 14"/>
          <p:cNvSpPr>
            <a:spLocks noGrp="1"/>
          </p:cNvSpPr>
          <p:nvPr>
            <p:ph type="body" sz="quarter" idx="3"/>
          </p:nvPr>
        </p:nvSpPr>
        <p:spPr>
          <a:xfrm>
            <a:off x="3600450" y="1314450"/>
            <a:ext cx="2914650" cy="48006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頁尾版面配置區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algn="ctr"/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8" name="投影片編號版面配置區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B1F3F81-B14A-46F6-8DE3-A69420931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137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algn="ctr"/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4" name="投影片編號版面配置區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B1F3F81-B14A-46F6-8DE3-A69420931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尾版面配置區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algn="ctr"/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3" name="投影片編號版面配置區 3"/>
          <p:cNvSpPr>
            <a:spLocks noGrp="1"/>
          </p:cNvSpPr>
          <p:nvPr>
            <p:ph type="sldNum" sz="quarter" idx="11"/>
          </p:nvPr>
        </p:nvSpPr>
        <p:spPr>
          <a:xfrm>
            <a:off x="0" y="4686300"/>
            <a:ext cx="400050" cy="285750"/>
          </a:xfrm>
        </p:spPr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fld id="{8B1F3F81-B14A-46F6-8DE3-A69420931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89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04787"/>
            <a:ext cx="6057900" cy="652463"/>
          </a:xfrm>
        </p:spPr>
        <p:txBody>
          <a:bodyPr/>
          <a:lstStyle>
            <a:lvl1pPr algn="l">
              <a:buNone/>
              <a:defRPr sz="33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57200" y="1314450"/>
            <a:ext cx="1200150" cy="325755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750"/>
              </a:spcAft>
              <a:buNone/>
              <a:defRPr sz="1350"/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5"/>
            </a:lvl4pPr>
            <a:lvl5pPr>
              <a:buNone/>
              <a:defRPr sz="675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1771650" y="1314450"/>
            <a:ext cx="4800600" cy="33147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algn="ctr"/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B1F3F81-B14A-46F6-8DE3-A69420931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025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 bwMode="white">
          <a:xfrm>
            <a:off x="-7144" y="3429000"/>
            <a:ext cx="6858000" cy="66556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6" name="矩形 5"/>
          <p:cNvSpPr/>
          <p:nvPr/>
        </p:nvSpPr>
        <p:spPr>
          <a:xfrm>
            <a:off x="-7143" y="3498056"/>
            <a:ext cx="1097756" cy="53459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7" name="矩形 6"/>
          <p:cNvSpPr/>
          <p:nvPr/>
        </p:nvSpPr>
        <p:spPr>
          <a:xfrm>
            <a:off x="1158478" y="3490913"/>
            <a:ext cx="5699522" cy="534591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8" name="矩形 7"/>
          <p:cNvSpPr/>
          <p:nvPr/>
        </p:nvSpPr>
        <p:spPr bwMode="white">
          <a:xfrm>
            <a:off x="1085850" y="0"/>
            <a:ext cx="75010" cy="51506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200150" y="4114800"/>
            <a:ext cx="5486400" cy="514350"/>
          </a:xfrm>
        </p:spPr>
        <p:txBody>
          <a:bodyPr/>
          <a:lstStyle>
            <a:lvl1pPr marL="0" indent="0">
              <a:buFontTx/>
              <a:buNone/>
              <a:defRPr sz="1275"/>
            </a:lvl1pPr>
            <a:lvl2pPr>
              <a:buFontTx/>
              <a:buNone/>
              <a:defRPr sz="900"/>
            </a:lvl2pPr>
            <a:lvl3pPr>
              <a:buFontTx/>
              <a:buNone/>
              <a:defRPr sz="750"/>
            </a:lvl3pPr>
            <a:lvl4pPr>
              <a:buFontTx/>
              <a:buNone/>
              <a:defRPr sz="675"/>
            </a:lvl4pPr>
            <a:lvl5pPr>
              <a:buFontTx/>
              <a:buNone/>
              <a:defRPr sz="675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00150" y="3486150"/>
            <a:ext cx="5486400" cy="514350"/>
          </a:xfrm>
        </p:spPr>
        <p:txBody>
          <a:bodyPr/>
          <a:lstStyle>
            <a:lvl1pPr algn="l">
              <a:buNone/>
              <a:defRPr sz="21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170432" y="0"/>
            <a:ext cx="5687568" cy="3426714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sp>
        <p:nvSpPr>
          <p:cNvPr id="9" name="日期版面配置區 11"/>
          <p:cNvSpPr>
            <a:spLocks noGrp="1"/>
          </p:cNvSpPr>
          <p:nvPr>
            <p:ph type="dt" sz="half" idx="10"/>
          </p:nvPr>
        </p:nvSpPr>
        <p:spPr>
          <a:xfrm>
            <a:off x="4686300" y="4686300"/>
            <a:ext cx="2000250" cy="273844"/>
          </a:xfrm>
          <a:prstGeom prst="rect">
            <a:avLst/>
          </a:prstGeom>
        </p:spPr>
        <p:txBody>
          <a:bodyPr vert="horz" rtlCol="0" anchor="ctr" anchorCtr="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kumimoji="0" sz="105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endParaRPr lang="en-US"/>
          </a:p>
        </p:txBody>
      </p:sp>
      <p:sp>
        <p:nvSpPr>
          <p:cNvPr id="10" name="投影片編號版面配置區 12"/>
          <p:cNvSpPr>
            <a:spLocks noGrp="1"/>
          </p:cNvSpPr>
          <p:nvPr>
            <p:ph type="sldNum" sz="quarter" idx="11"/>
          </p:nvPr>
        </p:nvSpPr>
        <p:spPr>
          <a:xfrm>
            <a:off x="0" y="3500438"/>
            <a:ext cx="1085850" cy="497681"/>
          </a:xfrm>
        </p:spPr>
        <p:txBody>
          <a:bodyPr/>
          <a:lstStyle>
            <a:lvl1pPr>
              <a:defRPr sz="2100" smtClean="0"/>
            </a:lvl1pPr>
          </a:lstStyle>
          <a:p>
            <a:fld id="{8B1F3F81-B14A-46F6-8DE3-A694209316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頁尾版面配置區 13"/>
          <p:cNvSpPr>
            <a:spLocks noGrp="1"/>
          </p:cNvSpPr>
          <p:nvPr>
            <p:ph type="ftr" sz="quarter" idx="12"/>
          </p:nvPr>
        </p:nvSpPr>
        <p:spPr>
          <a:xfrm>
            <a:off x="1200150" y="4686300"/>
            <a:ext cx="3429000" cy="273844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國立雲林科技大學 互動多媒體設計實驗室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048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頁尾版面配置區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algn="ctr"/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5" name="投影片編號版面配置區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B1F3F81-B14A-46F6-8DE3-A69420931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573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white">
          <a:xfrm>
            <a:off x="4572001" y="0"/>
            <a:ext cx="240506" cy="51435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5" name="矩形 4"/>
          <p:cNvSpPr/>
          <p:nvPr/>
        </p:nvSpPr>
        <p:spPr>
          <a:xfrm>
            <a:off x="4606529" y="457200"/>
            <a:ext cx="171450" cy="46863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6" name="矩形 5"/>
          <p:cNvSpPr/>
          <p:nvPr/>
        </p:nvSpPr>
        <p:spPr>
          <a:xfrm>
            <a:off x="4606529" y="0"/>
            <a:ext cx="171450" cy="40005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4914900" y="457201"/>
            <a:ext cx="1543050" cy="413742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42900" y="457200"/>
            <a:ext cx="4171950" cy="413742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914900" y="4686300"/>
            <a:ext cx="1657350" cy="273844"/>
          </a:xfrm>
          <a:prstGeom prst="rect">
            <a:avLst/>
          </a:prstGeom>
        </p:spPr>
        <p:txBody>
          <a:bodyPr vert="horz" anchor="ctr" anchorCtr="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kumimoji="0" sz="105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endParaRPr 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42900" y="4686300"/>
            <a:ext cx="4180285" cy="273844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>
          <a:xfrm rot="5400000">
            <a:off x="4492229" y="108347"/>
            <a:ext cx="400050" cy="183356"/>
          </a:xfrm>
        </p:spPr>
        <p:txBody>
          <a:bodyPr/>
          <a:lstStyle>
            <a:lvl1pPr>
              <a:defRPr smtClean="0"/>
            </a:lvl1pPr>
          </a:lstStyle>
          <a:p>
            <a:fld id="{8B1F3F81-B14A-46F6-8DE3-A69420931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2876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457200" y="171450"/>
            <a:ext cx="611505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7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459581" y="1200151"/>
            <a:ext cx="611505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1481732" y="4914900"/>
            <a:ext cx="4065985" cy="2286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050">
                <a:solidFill>
                  <a:schemeClr val="tx2"/>
                </a:solidFill>
                <a:latin typeface="Tw Cen MT" pitchFamily="34" charset="0"/>
                <a:ea typeface="微軟正黑體" pitchFamily="34" charset="-120"/>
              </a:defRPr>
            </a:lvl1pPr>
          </a:lstStyle>
          <a:p>
            <a:pPr algn="ctr"/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7" name="矩形 6"/>
          <p:cNvSpPr/>
          <p:nvPr/>
        </p:nvSpPr>
        <p:spPr bwMode="white">
          <a:xfrm>
            <a:off x="0" y="926306"/>
            <a:ext cx="6858000" cy="23931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8" name="矩形 7"/>
          <p:cNvSpPr/>
          <p:nvPr/>
        </p:nvSpPr>
        <p:spPr>
          <a:xfrm>
            <a:off x="0" y="959644"/>
            <a:ext cx="40005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9" name="矩形 8"/>
          <p:cNvSpPr/>
          <p:nvPr/>
        </p:nvSpPr>
        <p:spPr>
          <a:xfrm>
            <a:off x="442912" y="959644"/>
            <a:ext cx="6415088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3314700" y="4731544"/>
            <a:ext cx="400050" cy="183356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050" b="1" smtClean="0">
                <a:solidFill>
                  <a:schemeClr val="accent5">
                    <a:lumMod val="75000"/>
                  </a:schemeClr>
                </a:solidFill>
                <a:latin typeface="Candara" panose="020E0502030303020204" pitchFamily="34" charset="0"/>
                <a:ea typeface="微軟正黑體" panose="020B0604030504040204" pitchFamily="34" charset="-120"/>
              </a:defRPr>
            </a:lvl1pPr>
          </a:lstStyle>
          <a:p>
            <a:fld id="{8B1F3F81-B14A-46F6-8DE3-A694209316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985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  <a:ea typeface="微軟正黑體" pitchFamily="34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  <a:ea typeface="微軟正黑體" pitchFamily="34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  <a:ea typeface="微軟正黑體" pitchFamily="34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  <a:ea typeface="微軟正黑體" pitchFamily="34" charset="-12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  <a:ea typeface="微軟正黑體" pitchFamily="34" charset="-12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  <a:ea typeface="微軟正黑體" pitchFamily="34" charset="-12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  <a:ea typeface="微軟正黑體" pitchFamily="34" charset="-12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  <a:ea typeface="微軟正黑體" pitchFamily="34" charset="-120"/>
        </a:defRPr>
      </a:lvl9pPr>
    </p:titleStyle>
    <p:bodyStyle>
      <a:lvl1pPr marL="239316" indent="-239316" algn="l" rtl="0" eaLnBrk="1" fontAlgn="base" hangingPunct="1">
        <a:spcBef>
          <a:spcPts val="525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175" kern="1200">
          <a:solidFill>
            <a:schemeClr val="tx1"/>
          </a:solidFill>
          <a:latin typeface="+mn-lt"/>
          <a:ea typeface="+mn-ea"/>
          <a:cs typeface="+mn-cs"/>
        </a:defRPr>
      </a:lvl1pPr>
      <a:lvl2pPr marL="479822" indent="-204788" algn="l" rtl="0" eaLnBrk="1" fontAlgn="base" hangingPunct="1">
        <a:spcBef>
          <a:spcPts val="413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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1450" algn="l" rtl="0" eaLnBrk="1" fontAlgn="base" hangingPunct="1">
        <a:spcBef>
          <a:spcPts val="375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172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-171450" algn="l" rtl="0" eaLnBrk="1" fontAlgn="base" hangingPunct="1">
        <a:spcBef>
          <a:spcPts val="300"/>
        </a:spcBef>
        <a:spcAft>
          <a:spcPct val="0"/>
        </a:spcAft>
        <a:buClr>
          <a:srgbClr val="A5AB81"/>
        </a:buClr>
        <a:buSzPct val="75000"/>
        <a:buFont typeface="Wingdings" panose="05000000000000000000" pitchFamily="2" charset="2"/>
        <a:buChar char="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171450" algn="l" rtl="0" eaLnBrk="1" fontAlgn="base" hangingPunct="1">
        <a:spcBef>
          <a:spcPts val="3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577340" indent="-17145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35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7145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35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988820" indent="-17145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35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7145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35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ED838E-6FA1-474B-A6A2-E9A565B47B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流程控制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D4BE159-F324-4FF4-AD61-0FA79E747C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smtClean="0"/>
              <a:t>徐偉智、李柏廷、李亭儀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2F33159-AD8C-43B0-BF50-7D217DEED624}"/>
              </a:ext>
            </a:extLst>
          </p:cNvPr>
          <p:cNvSpPr txBox="1"/>
          <p:nvPr/>
        </p:nvSpPr>
        <p:spPr>
          <a:xfrm>
            <a:off x="0" y="3146381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邏輯分析與程式設計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18CBA0E-20A4-48E7-BCED-94E5201C6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76150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58987BA-0376-4EB1-9B8B-449471D91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流程控制的基礎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3D53B3-C002-44F5-861C-4933C4176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zh-TW" altLang="en-US" dirty="0"/>
              <a:t>國立雲林科技大學 互動多媒體設計實驗室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821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BFBB1B-1813-401C-A5E6-ACE05FAC1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基礎說明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F32351-5A5C-4216-B498-9EB4C1EA06D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9486" y="1275606"/>
            <a:ext cx="6115050" cy="3600400"/>
          </a:xfrm>
        </p:spPr>
        <p:txBody>
          <a:bodyPr/>
          <a:lstStyle/>
          <a:p>
            <a:pPr marL="0" indent="0">
              <a:buNone/>
            </a:pP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DAAA820-D604-48AC-9887-4ECD6B6F54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CE1C89-1F72-477A-A392-453957BD96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A38059E0-9BBD-480B-AF36-AA78B80CD55C}"/>
              </a:ext>
            </a:extLst>
          </p:cNvPr>
          <p:cNvSpPr txBox="1">
            <a:spLocks/>
          </p:cNvSpPr>
          <p:nvPr/>
        </p:nvSpPr>
        <p:spPr bwMode="auto">
          <a:xfrm>
            <a:off x="459486" y="1200150"/>
            <a:ext cx="6115050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39316" indent="-239316" algn="l" rtl="0" eaLnBrk="1" fontAlgn="base" hangingPunct="1">
              <a:spcBef>
                <a:spcPts val="52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1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9822" indent="-204788" algn="l" rtl="0" eaLnBrk="1" fontAlgn="base" hangingPunct="1">
              <a:spcBef>
                <a:spcPts val="413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145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1714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714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77340" indent="-17145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88820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7145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一般來說，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JavaScript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程式碼大部分都是一列程式敘述接著一列程式敘述循序的執行，但是對於複雜工作，為了達成預期的執行結果，我們需要使用「流程控制結構」（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Control Structures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）來改變執行順序。</a:t>
            </a:r>
          </a:p>
          <a:p>
            <a:pPr marL="0" indent="0">
              <a:buNone/>
            </a:pPr>
            <a:endParaRPr lang="zh-TW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5621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3901A-702E-43E9-BC43-AF42D1E07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基礎說明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7D9432-5656-4356-9719-B8C579AA174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不同的程式語言所提供的流程控制指令也會隨之不同，但一般可以分為以下三種：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繼續執行位在不同位置的一段指令（無條件分支指令）。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若特定條件成立時，執行一段指令，例如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語言的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switch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指令，是一種有條件分支指令。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執行一段指令若干次，直到特定條件成立為止，例如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語言的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指令，仍然可視為一種有條件分支指令。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41A5E93-F2EB-4146-995D-6D4C76C603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333C9DE-F8C4-45F5-AB6E-86F35534D4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514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3901A-702E-43E9-BC43-AF42D1E07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循序結構（</a:t>
            </a:r>
            <a:r>
              <a:rPr lang="en-US" altLang="zh-TW" sz="2800" dirty="0"/>
              <a:t>Sequential</a:t>
            </a:r>
            <a:r>
              <a:rPr lang="zh-TW" altLang="en-US" sz="2800" dirty="0"/>
              <a:t>）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7D9432-5656-4356-9719-B8C579AA174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循序結構是程式預設的執行方式</a:t>
            </a:r>
            <a:r>
              <a:rPr lang="zh-TW" altLang="en-US" sz="1800" dirty="0">
                <a:latin typeface="微軟正黑體" panose="020B0604030504040204" pitchFamily="34" charset="-120"/>
              </a:rPr>
              <a:t>，其執行步驟是一步一步承續下來，且依先後順序表示，第一個程式執行完才會換下一個，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如下圖所示：</a:t>
            </a:r>
          </a:p>
          <a:p>
            <a:endParaRPr lang="zh-TW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41A5E93-F2EB-4146-995D-6D4C76C603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333C9DE-F8C4-45F5-AB6E-86F35534D4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A439686D-5BC2-4F1A-A1EF-7E37CA580549}"/>
              </a:ext>
            </a:extLst>
          </p:cNvPr>
          <p:cNvSpPr/>
          <p:nvPr/>
        </p:nvSpPr>
        <p:spPr>
          <a:xfrm>
            <a:off x="763907" y="2751770"/>
            <a:ext cx="288032" cy="28803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DEF486-35AA-429D-9E33-44160F58DBE6}"/>
              </a:ext>
            </a:extLst>
          </p:cNvPr>
          <p:cNvSpPr/>
          <p:nvPr/>
        </p:nvSpPr>
        <p:spPr>
          <a:xfrm>
            <a:off x="1304518" y="2720330"/>
            <a:ext cx="1247031" cy="3600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程式一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4F3648CA-0257-49FA-A546-C51918C9FE52}"/>
              </a:ext>
            </a:extLst>
          </p:cNvPr>
          <p:cNvCxnSpPr>
            <a:stCxn id="7" idx="6"/>
            <a:endCxn id="8" idx="1"/>
          </p:cNvCxnSpPr>
          <p:nvPr/>
        </p:nvCxnSpPr>
        <p:spPr>
          <a:xfrm>
            <a:off x="1051939" y="2895786"/>
            <a:ext cx="252579" cy="4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2807233F-B11B-41CE-8494-F3644DAE6F1B}"/>
              </a:ext>
            </a:extLst>
          </p:cNvPr>
          <p:cNvSpPr/>
          <p:nvPr/>
        </p:nvSpPr>
        <p:spPr>
          <a:xfrm>
            <a:off x="2804128" y="2720330"/>
            <a:ext cx="1247031" cy="3600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程式二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D791A0-3EDA-49BA-8872-BD22A1C47FC1}"/>
              </a:ext>
            </a:extLst>
          </p:cNvPr>
          <p:cNvSpPr/>
          <p:nvPr/>
        </p:nvSpPr>
        <p:spPr>
          <a:xfrm>
            <a:off x="4303738" y="2715766"/>
            <a:ext cx="1247031" cy="3600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程式三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AFDE4114-8E6A-43DF-9014-A281D9A86388}"/>
              </a:ext>
            </a:extLst>
          </p:cNvPr>
          <p:cNvSpPr/>
          <p:nvPr/>
        </p:nvSpPr>
        <p:spPr>
          <a:xfrm>
            <a:off x="5803348" y="2751770"/>
            <a:ext cx="288032" cy="28803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5DBE258F-8C38-4231-B7F1-E534C9A391E6}"/>
              </a:ext>
            </a:extLst>
          </p:cNvPr>
          <p:cNvCxnSpPr>
            <a:stCxn id="8" idx="3"/>
            <a:endCxn id="13" idx="1"/>
          </p:cNvCxnSpPr>
          <p:nvPr/>
        </p:nvCxnSpPr>
        <p:spPr>
          <a:xfrm>
            <a:off x="2551549" y="2900350"/>
            <a:ext cx="2525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F8AACEB9-222A-40E0-87EF-E6E86C62B9F8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4051159" y="2895786"/>
            <a:ext cx="252579" cy="4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58170ECF-57B9-49F1-B6C2-23A4AC0ED008}"/>
              </a:ext>
            </a:extLst>
          </p:cNvPr>
          <p:cNvCxnSpPr>
            <a:stCxn id="14" idx="3"/>
            <a:endCxn id="16" idx="2"/>
          </p:cNvCxnSpPr>
          <p:nvPr/>
        </p:nvCxnSpPr>
        <p:spPr>
          <a:xfrm>
            <a:off x="5550769" y="2895786"/>
            <a:ext cx="2525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713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3901A-702E-43E9-BC43-AF42D1E07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選擇結構（</a:t>
            </a:r>
            <a:r>
              <a:rPr lang="en-US" altLang="zh-TW" sz="2800" dirty="0"/>
              <a:t>Selection</a:t>
            </a:r>
            <a:r>
              <a:rPr lang="zh-TW" altLang="en-US" sz="2800" dirty="0"/>
              <a:t>）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7D9432-5656-4356-9719-B8C579AA174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選擇結構是一種條件判斷</a:t>
            </a:r>
            <a:r>
              <a:rPr lang="zh-TW" altLang="en-US" sz="1800" dirty="0">
                <a:latin typeface="微軟正黑體" panose="020B0604030504040204" pitchFamily="34" charset="-120"/>
              </a:rPr>
              <a:t>，程式流程進入判斷區域後，會判斷測試條件是否成立。然後，依據判斷的結果選擇程式的流向，若是成立則執行程式一，若不成立則跳到程式二。如下圖所示</a:t>
            </a:r>
            <a:r>
              <a:rPr lang="en-US" altLang="zh-TW" sz="1800" dirty="0">
                <a:latin typeface="微軟正黑體" panose="020B0604030504040204" pitchFamily="34" charset="-120"/>
              </a:rPr>
              <a:t>:</a:t>
            </a:r>
            <a:endParaRPr lang="zh-TW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41A5E93-F2EB-4146-995D-6D4C76C603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333C9DE-F8C4-45F5-AB6E-86F35534D4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23FF589F-14FB-4162-9B67-90B9CAC1122B}"/>
              </a:ext>
            </a:extLst>
          </p:cNvPr>
          <p:cNvSpPr/>
          <p:nvPr/>
        </p:nvSpPr>
        <p:spPr>
          <a:xfrm>
            <a:off x="1463080" y="2787774"/>
            <a:ext cx="288032" cy="28803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0EB53B-29B5-4374-8431-17D7662A52A4}"/>
              </a:ext>
            </a:extLst>
          </p:cNvPr>
          <p:cNvSpPr/>
          <p:nvPr/>
        </p:nvSpPr>
        <p:spPr>
          <a:xfrm>
            <a:off x="2109940" y="3757290"/>
            <a:ext cx="1247031" cy="3600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程式一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6AF2B9F-B52D-486F-BEEC-C214B3A0C119}"/>
              </a:ext>
            </a:extLst>
          </p:cNvPr>
          <p:cNvSpPr/>
          <p:nvPr/>
        </p:nvSpPr>
        <p:spPr>
          <a:xfrm>
            <a:off x="4189548" y="2751770"/>
            <a:ext cx="1247031" cy="3600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程式二</a:t>
            </a:r>
          </a:p>
        </p:txBody>
      </p:sp>
      <p:sp>
        <p:nvSpPr>
          <p:cNvPr id="17" name="菱形 16">
            <a:extLst>
              <a:ext uri="{FF2B5EF4-FFF2-40B4-BE49-F238E27FC236}">
                <a16:creationId xmlns:a16="http://schemas.microsoft.com/office/drawing/2014/main" id="{13D6E346-9BA3-442E-A420-A3B76CEAAFC9}"/>
              </a:ext>
            </a:extLst>
          </p:cNvPr>
          <p:cNvSpPr/>
          <p:nvPr/>
        </p:nvSpPr>
        <p:spPr>
          <a:xfrm>
            <a:off x="2085384" y="2571750"/>
            <a:ext cx="1296144" cy="72008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條件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1ECA3290-D705-49C4-94E5-2DA5066E24A6}"/>
              </a:ext>
            </a:extLst>
          </p:cNvPr>
          <p:cNvCxnSpPr>
            <a:stCxn id="6" idx="6"/>
            <a:endCxn id="17" idx="1"/>
          </p:cNvCxnSpPr>
          <p:nvPr/>
        </p:nvCxnSpPr>
        <p:spPr>
          <a:xfrm>
            <a:off x="1751112" y="2931790"/>
            <a:ext cx="3342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130B5575-732E-45C4-9932-01D42A7E320C}"/>
              </a:ext>
            </a:extLst>
          </p:cNvPr>
          <p:cNvCxnSpPr>
            <a:stCxn id="17" idx="3"/>
            <a:endCxn id="9" idx="1"/>
          </p:cNvCxnSpPr>
          <p:nvPr/>
        </p:nvCxnSpPr>
        <p:spPr>
          <a:xfrm>
            <a:off x="3381528" y="2931790"/>
            <a:ext cx="8080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68B3974E-CB57-42C1-B93B-717E1E177896}"/>
              </a:ext>
            </a:extLst>
          </p:cNvPr>
          <p:cNvCxnSpPr>
            <a:stCxn id="17" idx="2"/>
            <a:endCxn id="7" idx="0"/>
          </p:cNvCxnSpPr>
          <p:nvPr/>
        </p:nvCxnSpPr>
        <p:spPr>
          <a:xfrm>
            <a:off x="2733456" y="3291830"/>
            <a:ext cx="0" cy="465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>
            <a:extLst>
              <a:ext uri="{FF2B5EF4-FFF2-40B4-BE49-F238E27FC236}">
                <a16:creationId xmlns:a16="http://schemas.microsoft.com/office/drawing/2014/main" id="{26DAD9F5-197F-4B22-B8F7-F00CDDFAD151}"/>
              </a:ext>
            </a:extLst>
          </p:cNvPr>
          <p:cNvSpPr/>
          <p:nvPr/>
        </p:nvSpPr>
        <p:spPr>
          <a:xfrm>
            <a:off x="4669047" y="3804642"/>
            <a:ext cx="288032" cy="28803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96F932C4-F4ED-42BA-A38F-19F48DFFF650}"/>
              </a:ext>
            </a:extLst>
          </p:cNvPr>
          <p:cNvCxnSpPr>
            <a:stCxn id="7" idx="3"/>
            <a:endCxn id="26" idx="2"/>
          </p:cNvCxnSpPr>
          <p:nvPr/>
        </p:nvCxnSpPr>
        <p:spPr>
          <a:xfrm>
            <a:off x="3356971" y="3937310"/>
            <a:ext cx="1312076" cy="11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9BB6F9DB-F684-4F06-B50D-4A917381CB01}"/>
              </a:ext>
            </a:extLst>
          </p:cNvPr>
          <p:cNvCxnSpPr>
            <a:stCxn id="9" idx="2"/>
            <a:endCxn id="26" idx="0"/>
          </p:cNvCxnSpPr>
          <p:nvPr/>
        </p:nvCxnSpPr>
        <p:spPr>
          <a:xfrm flipH="1">
            <a:off x="4813063" y="3111810"/>
            <a:ext cx="1" cy="692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37998703-5CA3-476E-8339-7A1298BF3BD3}"/>
              </a:ext>
            </a:extLst>
          </p:cNvPr>
          <p:cNvSpPr txBox="1"/>
          <p:nvPr/>
        </p:nvSpPr>
        <p:spPr>
          <a:xfrm>
            <a:off x="2189716" y="330663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solidFill>
                  <a:srgbClr val="FF0000"/>
                </a:solidFill>
              </a:rPr>
              <a:t>成立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FC40EBD1-CD56-4B34-B92C-F00EB0176098}"/>
              </a:ext>
            </a:extLst>
          </p:cNvPr>
          <p:cNvSpPr txBox="1"/>
          <p:nvPr/>
        </p:nvSpPr>
        <p:spPr>
          <a:xfrm>
            <a:off x="3368501" y="2633885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solidFill>
                  <a:srgbClr val="FF0000"/>
                </a:solidFill>
              </a:rPr>
              <a:t>不成立</a:t>
            </a:r>
          </a:p>
        </p:txBody>
      </p:sp>
    </p:spTree>
    <p:extLst>
      <p:ext uri="{BB962C8B-B14F-4D97-AF65-F5344CB8AC3E}">
        <p14:creationId xmlns:p14="http://schemas.microsoft.com/office/powerpoint/2010/main" val="1956561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3901A-702E-43E9-BC43-AF42D1E07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重複結構（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Iteration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7D9432-5656-4356-9719-B8C579AA174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重複結構是迴圈控制，可以重複執行一個程式區塊的程式碼，根據結束條件結束迴圈，依結束條件測試的位置不同分為兩種：</a:t>
            </a:r>
            <a:r>
              <a:rPr lang="zh-TW" altLang="en-US" sz="1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前測式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重複結構是在進入迴圈前測試條件（左圖），和</a:t>
            </a:r>
            <a:r>
              <a:rPr lang="zh-TW" altLang="en-US" sz="1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後測式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重複結構是在迴圈結束測試條件（右圖）。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41A5E93-F2EB-4146-995D-6D4C76C603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333C9DE-F8C4-45F5-AB6E-86F35534D4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C284BE61-03AC-41B3-B544-48537831D2C7}"/>
              </a:ext>
            </a:extLst>
          </p:cNvPr>
          <p:cNvSpPr/>
          <p:nvPr/>
        </p:nvSpPr>
        <p:spPr>
          <a:xfrm>
            <a:off x="574448" y="3075806"/>
            <a:ext cx="288032" cy="28803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120EF30-F44E-409D-BDF1-08BAEF6A3FB5}"/>
              </a:ext>
            </a:extLst>
          </p:cNvPr>
          <p:cNvSpPr/>
          <p:nvPr/>
        </p:nvSpPr>
        <p:spPr>
          <a:xfrm>
            <a:off x="1221308" y="4045322"/>
            <a:ext cx="1247031" cy="3600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迴圈</a:t>
            </a:r>
          </a:p>
        </p:txBody>
      </p:sp>
      <p:sp>
        <p:nvSpPr>
          <p:cNvPr id="9" name="菱形 8">
            <a:extLst>
              <a:ext uri="{FF2B5EF4-FFF2-40B4-BE49-F238E27FC236}">
                <a16:creationId xmlns:a16="http://schemas.microsoft.com/office/drawing/2014/main" id="{BB938D26-5B21-47F5-B6F7-92ABF656BD31}"/>
              </a:ext>
            </a:extLst>
          </p:cNvPr>
          <p:cNvSpPr/>
          <p:nvPr/>
        </p:nvSpPr>
        <p:spPr>
          <a:xfrm>
            <a:off x="1196752" y="2859782"/>
            <a:ext cx="1296144" cy="72008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條件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9AE7A2C4-399D-4C9D-91AB-5F751F217832}"/>
              </a:ext>
            </a:extLst>
          </p:cNvPr>
          <p:cNvCxnSpPr>
            <a:stCxn id="6" idx="6"/>
            <a:endCxn id="9" idx="1"/>
          </p:cNvCxnSpPr>
          <p:nvPr/>
        </p:nvCxnSpPr>
        <p:spPr>
          <a:xfrm>
            <a:off x="862480" y="3219822"/>
            <a:ext cx="3342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1FA4D7C4-4B74-4D20-B731-419FD08871DB}"/>
              </a:ext>
            </a:extLst>
          </p:cNvPr>
          <p:cNvCxnSpPr>
            <a:stCxn id="9" idx="2"/>
            <a:endCxn id="7" idx="0"/>
          </p:cNvCxnSpPr>
          <p:nvPr/>
        </p:nvCxnSpPr>
        <p:spPr>
          <a:xfrm>
            <a:off x="1844824" y="3579862"/>
            <a:ext cx="0" cy="465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1DA4BC18-8B68-4169-9842-624753D08F71}"/>
              </a:ext>
            </a:extLst>
          </p:cNvPr>
          <p:cNvCxnSpPr>
            <a:stCxn id="7" idx="1"/>
            <a:endCxn id="6" idx="4"/>
          </p:cNvCxnSpPr>
          <p:nvPr/>
        </p:nvCxnSpPr>
        <p:spPr>
          <a:xfrm rot="10800000">
            <a:off x="718464" y="3363838"/>
            <a:ext cx="502844" cy="8615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>
            <a:extLst>
              <a:ext uri="{FF2B5EF4-FFF2-40B4-BE49-F238E27FC236}">
                <a16:creationId xmlns:a16="http://schemas.microsoft.com/office/drawing/2014/main" id="{1FBB8DF4-4F23-41FC-A2D8-49C4D3696D93}"/>
              </a:ext>
            </a:extLst>
          </p:cNvPr>
          <p:cNvSpPr/>
          <p:nvPr/>
        </p:nvSpPr>
        <p:spPr>
          <a:xfrm>
            <a:off x="2746126" y="3075806"/>
            <a:ext cx="288032" cy="28803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53556CDF-ED17-4070-BCBD-084F02B3DF9D}"/>
              </a:ext>
            </a:extLst>
          </p:cNvPr>
          <p:cNvCxnSpPr>
            <a:stCxn id="9" idx="3"/>
            <a:endCxn id="20" idx="2"/>
          </p:cNvCxnSpPr>
          <p:nvPr/>
        </p:nvCxnSpPr>
        <p:spPr>
          <a:xfrm>
            <a:off x="2492896" y="3219822"/>
            <a:ext cx="2532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58B921BF-0452-4E4A-8B6B-FC293119E607}"/>
              </a:ext>
            </a:extLst>
          </p:cNvPr>
          <p:cNvSpPr/>
          <p:nvPr/>
        </p:nvSpPr>
        <p:spPr>
          <a:xfrm>
            <a:off x="3671665" y="3075806"/>
            <a:ext cx="288032" cy="28803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C0BA732-B2EE-4014-92BC-9C414124303A}"/>
              </a:ext>
            </a:extLst>
          </p:cNvPr>
          <p:cNvSpPr/>
          <p:nvPr/>
        </p:nvSpPr>
        <p:spPr>
          <a:xfrm>
            <a:off x="4278004" y="3039802"/>
            <a:ext cx="1247031" cy="3600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迴圈</a:t>
            </a:r>
          </a:p>
        </p:txBody>
      </p:sp>
      <p:sp>
        <p:nvSpPr>
          <p:cNvPr id="26" name="菱形 25">
            <a:extLst>
              <a:ext uri="{FF2B5EF4-FFF2-40B4-BE49-F238E27FC236}">
                <a16:creationId xmlns:a16="http://schemas.microsoft.com/office/drawing/2014/main" id="{9AE063A4-83DB-4548-984B-C5F85B166995}"/>
              </a:ext>
            </a:extLst>
          </p:cNvPr>
          <p:cNvSpPr/>
          <p:nvPr/>
        </p:nvSpPr>
        <p:spPr>
          <a:xfrm>
            <a:off x="4254625" y="3794590"/>
            <a:ext cx="1296144" cy="72008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條件</a:t>
            </a: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906D96B8-19F5-4567-B882-0A94A319A035}"/>
              </a:ext>
            </a:extLst>
          </p:cNvPr>
          <p:cNvSpPr/>
          <p:nvPr/>
        </p:nvSpPr>
        <p:spPr>
          <a:xfrm>
            <a:off x="5843343" y="3075806"/>
            <a:ext cx="288032" cy="28803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16FC97EB-91B1-42B0-9FFC-60CB17187F4A}"/>
              </a:ext>
            </a:extLst>
          </p:cNvPr>
          <p:cNvCxnSpPr>
            <a:stCxn id="24" idx="6"/>
            <a:endCxn id="25" idx="1"/>
          </p:cNvCxnSpPr>
          <p:nvPr/>
        </p:nvCxnSpPr>
        <p:spPr>
          <a:xfrm>
            <a:off x="3959697" y="3219822"/>
            <a:ext cx="3183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91319066-8EA0-4C78-8C39-516D30F459E7}"/>
              </a:ext>
            </a:extLst>
          </p:cNvPr>
          <p:cNvCxnSpPr>
            <a:stCxn id="25" idx="3"/>
            <a:endCxn id="30" idx="2"/>
          </p:cNvCxnSpPr>
          <p:nvPr/>
        </p:nvCxnSpPr>
        <p:spPr>
          <a:xfrm>
            <a:off x="5525035" y="3219822"/>
            <a:ext cx="3183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859E5067-E03C-455A-8EEF-1459FEB80570}"/>
              </a:ext>
            </a:extLst>
          </p:cNvPr>
          <p:cNvCxnSpPr>
            <a:stCxn id="25" idx="2"/>
            <a:endCxn id="26" idx="0"/>
          </p:cNvCxnSpPr>
          <p:nvPr/>
        </p:nvCxnSpPr>
        <p:spPr>
          <a:xfrm>
            <a:off x="4901520" y="3399842"/>
            <a:ext cx="1177" cy="394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接點: 肘形 38">
            <a:extLst>
              <a:ext uri="{FF2B5EF4-FFF2-40B4-BE49-F238E27FC236}">
                <a16:creationId xmlns:a16="http://schemas.microsoft.com/office/drawing/2014/main" id="{85F5C04A-F61F-4E5B-84CC-7EEBB481E2A9}"/>
              </a:ext>
            </a:extLst>
          </p:cNvPr>
          <p:cNvCxnSpPr>
            <a:stCxn id="26" idx="1"/>
            <a:endCxn id="24" idx="4"/>
          </p:cNvCxnSpPr>
          <p:nvPr/>
        </p:nvCxnSpPr>
        <p:spPr>
          <a:xfrm rot="10800000">
            <a:off x="3815681" y="3363838"/>
            <a:ext cx="438944" cy="7907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822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58987BA-0376-4EB1-9B8B-449471D91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邏輯與比較運算子 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3D53B3-C002-44F5-861C-4933C4176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zh-TW" altLang="en-US" dirty="0"/>
              <a:t>國立雲林科技大學 互動多媒體設計實驗室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22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3901A-702E-43E9-BC43-AF42D1E07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比較運算子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41A5E93-F2EB-4146-995D-6D4C76C603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333C9DE-F8C4-45F5-AB6E-86F35534D4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8100433-4251-4790-BF51-2B71A1EFCB9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8788" y="1200150"/>
            <a:ext cx="6115050" cy="3371850"/>
          </a:xfrm>
        </p:spPr>
        <p:txBody>
          <a:bodyPr/>
          <a:lstStyle/>
          <a:p>
            <a:r>
              <a:rPr lang="en-US" altLang="zh-TW" sz="1800" dirty="0">
                <a:ea typeface="新細明體" panose="02020500000000000000" pitchFamily="18" charset="-120"/>
              </a:rPr>
              <a:t>JavaScript</a:t>
            </a:r>
            <a:r>
              <a:rPr lang="zh-TW" altLang="en-US" sz="1800" dirty="0">
                <a:ea typeface="新細明體" panose="02020500000000000000" pitchFamily="18" charset="-120"/>
              </a:rPr>
              <a:t>的比較運算子可以比較</a:t>
            </a:r>
            <a:r>
              <a:rPr lang="en-US" altLang="zh-TW" sz="1800" dirty="0">
                <a:ea typeface="新細明體" panose="02020500000000000000" pitchFamily="18" charset="-120"/>
              </a:rPr>
              <a:t>2</a:t>
            </a:r>
            <a:r>
              <a:rPr lang="zh-TW" altLang="en-US" sz="1800" dirty="0">
                <a:ea typeface="新細明體" panose="02020500000000000000" pitchFamily="18" charset="-120"/>
              </a:rPr>
              <a:t>個運算元是相等、不相等、哪一個比較大或哪一個比較小，其說明和範例如下表所示：</a:t>
            </a:r>
          </a:p>
          <a:p>
            <a:endParaRPr lang="zh-TW" altLang="en-US" sz="1800" dirty="0">
              <a:ea typeface="新細明體" panose="02020500000000000000" pitchFamily="18" charset="-120"/>
            </a:endParaRPr>
          </a:p>
        </p:txBody>
      </p:sp>
      <p:graphicFrame>
        <p:nvGraphicFramePr>
          <p:cNvPr id="8" name="Group 329">
            <a:extLst>
              <a:ext uri="{FF2B5EF4-FFF2-40B4-BE49-F238E27FC236}">
                <a16:creationId xmlns:a16="http://schemas.microsoft.com/office/drawing/2014/main" id="{072A1A97-115D-4CFE-A7F8-5AD9C02C9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369832"/>
              </p:ext>
            </p:extLst>
          </p:nvPr>
        </p:nvGraphicFramePr>
        <p:xfrm>
          <a:off x="768839" y="2197353"/>
          <a:ext cx="5320322" cy="2125438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859557">
                  <a:extLst>
                    <a:ext uri="{9D8B030D-6E8A-4147-A177-3AD203B41FA5}">
                      <a16:colId xmlns:a16="http://schemas.microsoft.com/office/drawing/2014/main" val="3659660315"/>
                    </a:ext>
                  </a:extLst>
                </a:gridCol>
                <a:gridCol w="1178257">
                  <a:extLst>
                    <a:ext uri="{9D8B030D-6E8A-4147-A177-3AD203B41FA5}">
                      <a16:colId xmlns:a16="http://schemas.microsoft.com/office/drawing/2014/main" val="3014027254"/>
                    </a:ext>
                  </a:extLst>
                </a:gridCol>
                <a:gridCol w="1557167">
                  <a:extLst>
                    <a:ext uri="{9D8B030D-6E8A-4147-A177-3AD203B41FA5}">
                      <a16:colId xmlns:a16="http://schemas.microsoft.com/office/drawing/2014/main" val="4246331181"/>
                    </a:ext>
                  </a:extLst>
                </a:gridCol>
                <a:gridCol w="1725341">
                  <a:extLst>
                    <a:ext uri="{9D8B030D-6E8A-4147-A177-3AD203B41FA5}">
                      <a16:colId xmlns:a16="http://schemas.microsoft.com/office/drawing/2014/main" val="3459356701"/>
                    </a:ext>
                  </a:extLst>
                </a:gridCol>
              </a:tblGrid>
              <a:tr h="28236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運算子</a:t>
                      </a:r>
                      <a:endParaRPr kumimoji="0" lang="zh-TW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795" marR="59795" marT="29897" marB="29897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說明</a:t>
                      </a:r>
                      <a:endParaRPr kumimoji="0" lang="zh-TW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795" marR="59795" marT="29897" marB="29897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運算式範例</a:t>
                      </a:r>
                      <a:endParaRPr kumimoji="0" lang="zh-TW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795" marR="59795" marT="29897" marB="29897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運算結果</a:t>
                      </a:r>
                      <a:endParaRPr kumimoji="0" lang="zh-TW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795" marR="59795" marT="29897" marB="29897" horzOverflow="overflow"/>
                </a:tc>
                <a:extLst>
                  <a:ext uri="{0D108BD9-81ED-4DB2-BD59-A6C34878D82A}">
                    <a16:rowId xmlns:a16="http://schemas.microsoft.com/office/drawing/2014/main" val="1609811693"/>
                  </a:ext>
                </a:extLst>
              </a:tr>
              <a:tr h="28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==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795" marR="59795" marT="29897" marB="29897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等於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795" marR="59795" marT="29897" marB="29897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 == 3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795" marR="59795" marT="29897" marB="29897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795" marR="59795" marT="29897" marB="29897" horzOverflow="overflow"/>
                </a:tc>
                <a:extLst>
                  <a:ext uri="{0D108BD9-81ED-4DB2-BD59-A6C34878D82A}">
                    <a16:rowId xmlns:a16="http://schemas.microsoft.com/office/drawing/2014/main" val="1128464911"/>
                  </a:ext>
                </a:extLst>
              </a:tr>
              <a:tr h="28236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!=</a:t>
                      </a:r>
                      <a:endParaRPr kumimoji="0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795" marR="59795" marT="29897" marB="29897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不等於</a:t>
                      </a:r>
                      <a:endParaRPr kumimoji="0" lang="zh-TW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795" marR="59795" marT="29897" marB="29897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4!= 3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795" marR="59795" marT="29897" marB="29897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795" marR="59795" marT="29897" marB="29897" horzOverflow="overflow"/>
                </a:tc>
                <a:extLst>
                  <a:ext uri="{0D108BD9-81ED-4DB2-BD59-A6C34878D82A}">
                    <a16:rowId xmlns:a16="http://schemas.microsoft.com/office/drawing/2014/main" val="797446080"/>
                  </a:ext>
                </a:extLst>
              </a:tr>
              <a:tr h="28132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&lt;</a:t>
                      </a:r>
                      <a:endParaRPr kumimoji="0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795" marR="59795" marT="29897" marB="29897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小於</a:t>
                      </a:r>
                      <a:endParaRPr kumimoji="0" lang="zh-TW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795" marR="59795" marT="29897" marB="29897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 &lt; 3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795" marR="59795" marT="29897" marB="29897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795" marR="59795" marT="29897" marB="29897" horzOverflow="overflow"/>
                </a:tc>
                <a:extLst>
                  <a:ext uri="{0D108BD9-81ED-4DB2-BD59-A6C34878D82A}">
                    <a16:rowId xmlns:a16="http://schemas.microsoft.com/office/drawing/2014/main" val="755084325"/>
                  </a:ext>
                </a:extLst>
              </a:tr>
              <a:tr h="28236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&gt;</a:t>
                      </a:r>
                      <a:endParaRPr kumimoji="0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795" marR="59795" marT="29897" marB="29897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大於</a:t>
                      </a:r>
                      <a:endParaRPr kumimoji="0" lang="zh-TW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795" marR="59795" marT="29897" marB="29897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 &gt; 3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795" marR="59795" marT="29897" marB="29897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795" marR="59795" marT="29897" marB="29897" horzOverflow="overflow"/>
                </a:tc>
                <a:extLst>
                  <a:ext uri="{0D108BD9-81ED-4DB2-BD59-A6C34878D82A}">
                    <a16:rowId xmlns:a16="http://schemas.microsoft.com/office/drawing/2014/main" val="2213198521"/>
                  </a:ext>
                </a:extLst>
              </a:tr>
              <a:tr h="2834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&lt;=</a:t>
                      </a:r>
                      <a:endParaRPr kumimoji="0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795" marR="59795" marT="29897" marB="29897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小於等於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795" marR="59795" marT="29897" marB="29897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4&lt;= 3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795" marR="59795" marT="29897" marB="29897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795" marR="59795" marT="29897" marB="29897" horzOverflow="overflow"/>
                </a:tc>
                <a:extLst>
                  <a:ext uri="{0D108BD9-81ED-4DB2-BD59-A6C34878D82A}">
                    <a16:rowId xmlns:a16="http://schemas.microsoft.com/office/drawing/2014/main" val="832476131"/>
                  </a:ext>
                </a:extLst>
              </a:tr>
              <a:tr h="28236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&gt;=</a:t>
                      </a:r>
                      <a:endParaRPr kumimoji="0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795" marR="59795" marT="29897" marB="29897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大於等於</a:t>
                      </a:r>
                      <a:endParaRPr kumimoji="0" lang="zh-TW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795" marR="59795" marT="29897" marB="29897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 &gt;=3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795" marR="59795" marT="29897" marB="29897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795" marR="59795" marT="29897" marB="29897" horzOverflow="overflow"/>
                </a:tc>
                <a:extLst>
                  <a:ext uri="{0D108BD9-81ED-4DB2-BD59-A6C34878D82A}">
                    <a16:rowId xmlns:a16="http://schemas.microsoft.com/office/drawing/2014/main" val="2882628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6606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3901A-702E-43E9-BC43-AF42D1E07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邏輯運算子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41A5E93-F2EB-4146-995D-6D4C76C603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333C9DE-F8C4-45F5-AB6E-86F35534D4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8100433-4251-4790-BF51-2B71A1EFCB9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8788" y="1200150"/>
            <a:ext cx="6115050" cy="3371850"/>
          </a:xfrm>
        </p:spPr>
        <p:txBody>
          <a:bodyPr/>
          <a:lstStyle/>
          <a:p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如果條件不只一個，而是多個比較運算式，我們需要使用邏輯運算子來連接多個比較運算式，其說明如下表所示：</a:t>
            </a:r>
          </a:p>
          <a:p>
            <a:endParaRPr lang="zh-TW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9" name="Group 93">
            <a:extLst>
              <a:ext uri="{FF2B5EF4-FFF2-40B4-BE49-F238E27FC236}">
                <a16:creationId xmlns:a16="http://schemas.microsoft.com/office/drawing/2014/main" id="{25695C4A-29AB-409C-A0AF-604720C15F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435190"/>
              </p:ext>
            </p:extLst>
          </p:nvPr>
        </p:nvGraphicFramePr>
        <p:xfrm>
          <a:off x="712664" y="2355726"/>
          <a:ext cx="5607298" cy="1832128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994523">
                  <a:extLst>
                    <a:ext uri="{9D8B030D-6E8A-4147-A177-3AD203B41FA5}">
                      <a16:colId xmlns:a16="http://schemas.microsoft.com/office/drawing/2014/main" val="1905960427"/>
                    </a:ext>
                  </a:extLst>
                </a:gridCol>
                <a:gridCol w="4612775">
                  <a:extLst>
                    <a:ext uri="{9D8B030D-6E8A-4147-A177-3AD203B41FA5}">
                      <a16:colId xmlns:a16="http://schemas.microsoft.com/office/drawing/2014/main" val="3435483806"/>
                    </a:ext>
                  </a:extLst>
                </a:gridCol>
              </a:tblGrid>
              <a:tr h="3499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運算子</a:t>
                      </a:r>
                      <a:endParaRPr kumimoji="0" lang="zh-TW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3579" marR="63579" marT="31789" marB="31789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說明</a:t>
                      </a:r>
                      <a:endParaRPr kumimoji="0" lang="zh-TW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3579" marR="63579" marT="31789" marB="31789" horzOverflow="overflow"/>
                </a:tc>
                <a:extLst>
                  <a:ext uri="{0D108BD9-81ED-4DB2-BD59-A6C34878D82A}">
                    <a16:rowId xmlns:a16="http://schemas.microsoft.com/office/drawing/2014/main" val="214345195"/>
                  </a:ext>
                </a:extLst>
              </a:tr>
              <a:tr h="35100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!</a:t>
                      </a:r>
                    </a:p>
                  </a:txBody>
                  <a:tcPr marL="63579" marR="63579" marT="31789" marB="31789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NOT</a:t>
                      </a:r>
                      <a:r>
                        <a:rPr kumimoji="0" lang="zh-TW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，傳回運算元相反的值，</a:t>
                      </a:r>
                      <a:r>
                        <a:rPr kumimoji="0" lang="en-US" altLang="zh-TW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true</a:t>
                      </a:r>
                      <a:r>
                        <a:rPr kumimoji="0" lang="zh-TW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</a:t>
                      </a:r>
                      <a:r>
                        <a:rPr kumimoji="0" lang="en-US" altLang="zh-TW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false</a:t>
                      </a:r>
                      <a:r>
                        <a:rPr kumimoji="0" lang="zh-TW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；</a:t>
                      </a:r>
                      <a:r>
                        <a:rPr kumimoji="0" lang="en-US" altLang="zh-TW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false</a:t>
                      </a:r>
                      <a:r>
                        <a:rPr kumimoji="0" lang="zh-TW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</a:t>
                      </a:r>
                      <a:r>
                        <a:rPr kumimoji="0" lang="en-US" altLang="zh-TW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true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3579" marR="63579" marT="31789" marB="31789" horzOverflow="overflow"/>
                </a:tc>
                <a:extLst>
                  <a:ext uri="{0D108BD9-81ED-4DB2-BD59-A6C34878D82A}">
                    <a16:rowId xmlns:a16="http://schemas.microsoft.com/office/drawing/2014/main" val="4027194109"/>
                  </a:ext>
                </a:extLst>
              </a:tr>
              <a:tr h="38964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&amp;&amp;(</a:t>
                      </a:r>
                      <a:r>
                        <a:rPr kumimoji="0" lang="zh-TW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和</a:t>
                      </a:r>
                      <a:r>
                        <a:rPr kumimoji="0" lang="en-US" altLang="zh-TW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3579" marR="63579" marT="31789" marB="31789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if(</a:t>
                      </a:r>
                      <a:r>
                        <a:rPr kumimoji="0" lang="en-US" altLang="zh-TW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i</a:t>
                      </a:r>
                      <a:r>
                        <a:rPr kumimoji="0" lang="en-US" altLang="zh-TW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&gt;=5 &amp;&amp; </a:t>
                      </a:r>
                      <a:r>
                        <a:rPr kumimoji="0" lang="en-US" altLang="zh-TW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i</a:t>
                      </a:r>
                      <a:r>
                        <a:rPr kumimoji="0" lang="en-US" altLang="zh-TW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&lt;=10)</a:t>
                      </a:r>
                      <a:r>
                        <a:rPr kumimoji="0" lang="zh-TW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即表示判斷變數</a:t>
                      </a:r>
                      <a:r>
                        <a:rPr kumimoji="0" lang="en-US" altLang="zh-TW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i</a:t>
                      </a:r>
                      <a:r>
                        <a:rPr kumimoji="0" lang="zh-TW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是否在</a:t>
                      </a:r>
                      <a:r>
                        <a:rPr kumimoji="0" lang="en-US" altLang="zh-TW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5~10</a:t>
                      </a:r>
                      <a:r>
                        <a:rPr kumimoji="0" lang="zh-TW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之間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3579" marR="63579" marT="31789" marB="31789" horzOverflow="overflow"/>
                </a:tc>
                <a:extLst>
                  <a:ext uri="{0D108BD9-81ED-4DB2-BD59-A6C34878D82A}">
                    <a16:rowId xmlns:a16="http://schemas.microsoft.com/office/drawing/2014/main" val="1914397950"/>
                  </a:ext>
                </a:extLst>
              </a:tr>
              <a:tr h="37970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||(</a:t>
                      </a:r>
                      <a:r>
                        <a:rPr kumimoji="0" lang="zh-TW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或</a:t>
                      </a:r>
                      <a:r>
                        <a:rPr kumimoji="0" lang="en-US" altLang="zh-TW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3579" marR="63579" marT="31789" marB="31789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A452A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if(</a:t>
                      </a:r>
                      <a:r>
                        <a:rPr kumimoji="0" lang="en-US" altLang="zh-TW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i</a:t>
                      </a:r>
                      <a:r>
                        <a:rPr kumimoji="0" lang="en-US" altLang="zh-TW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==5 || </a:t>
                      </a:r>
                      <a:r>
                        <a:rPr kumimoji="0" lang="en-US" altLang="zh-TW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i</a:t>
                      </a:r>
                      <a:r>
                        <a:rPr kumimoji="0" lang="en-US" altLang="zh-TW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==10)</a:t>
                      </a:r>
                      <a:r>
                        <a:rPr kumimoji="0" lang="zh-TW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即表示判斷變數</a:t>
                      </a:r>
                      <a:r>
                        <a:rPr kumimoji="0" lang="en-US" altLang="zh-TW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i</a:t>
                      </a:r>
                      <a:r>
                        <a:rPr kumimoji="0" lang="zh-TW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是否等於</a:t>
                      </a:r>
                      <a:r>
                        <a:rPr kumimoji="0" lang="en-US" altLang="zh-TW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5</a:t>
                      </a:r>
                      <a:r>
                        <a:rPr kumimoji="0" lang="zh-TW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或</a:t>
                      </a:r>
                      <a:r>
                        <a:rPr kumimoji="0" lang="en-US" altLang="zh-TW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10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3579" marR="63579" marT="31789" marB="31789" horzOverflow="overflow"/>
                </a:tc>
                <a:extLst>
                  <a:ext uri="{0D108BD9-81ED-4DB2-BD59-A6C34878D82A}">
                    <a16:rowId xmlns:a16="http://schemas.microsoft.com/office/drawing/2014/main" val="857670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1688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58987BA-0376-4EB1-9B8B-449471D91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條件判斷 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3D53B3-C002-44F5-861C-4933C4176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zh-TW" altLang="en-US" dirty="0"/>
              <a:t>國立雲林科技大學 互動多媒體設計實驗室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152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6CEC22-97A8-4810-83F6-691E15D21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+mn-ea"/>
                <a:ea typeface="+mn-ea"/>
              </a:rPr>
              <a:t>if</a:t>
            </a:r>
            <a:r>
              <a:rPr lang="zh-TW" altLang="en-US" sz="2800" dirty="0">
                <a:latin typeface="+mn-ea"/>
                <a:ea typeface="+mn-ea"/>
              </a:rPr>
              <a:t>單選條件敘述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B6BC3A-6648-4E20-B91E-ED4221927D2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sz="1800" dirty="0">
                <a:latin typeface="+mn-ea"/>
              </a:rPr>
              <a:t>JavaScript</a:t>
            </a:r>
            <a:r>
              <a:rPr lang="zh-TW" altLang="en-US" sz="1800" dirty="0">
                <a:latin typeface="+mn-ea"/>
              </a:rPr>
              <a:t>的</a:t>
            </a:r>
            <a:r>
              <a:rPr lang="en-US" altLang="zh-TW" sz="1800" dirty="0">
                <a:latin typeface="+mn-ea"/>
              </a:rPr>
              <a:t>if</a:t>
            </a:r>
            <a:r>
              <a:rPr lang="zh-TW" altLang="en-US" sz="1800" dirty="0">
                <a:latin typeface="+mn-ea"/>
              </a:rPr>
              <a:t>條件敘述是一種是否執行的單選題，可以決定是否執行程式區塊內的程式碼，如果條件運算結果為</a:t>
            </a:r>
            <a:r>
              <a:rPr lang="en-US" altLang="zh-TW" sz="1800" dirty="0">
                <a:latin typeface="+mn-ea"/>
              </a:rPr>
              <a:t>true</a:t>
            </a:r>
            <a:r>
              <a:rPr lang="zh-TW" altLang="en-US" sz="1800" dirty="0">
                <a:latin typeface="+mn-ea"/>
              </a:rPr>
              <a:t>，就執行括號之間的程式碼。</a:t>
            </a:r>
          </a:p>
          <a:p>
            <a:r>
              <a:rPr lang="zh-TW" altLang="en-US" sz="1800" dirty="0"/>
              <a:t>當條件式為真時，執行大括號內的動作，如果要執行的動作，只有一項，大括號可以省略。</a:t>
            </a:r>
            <a:endParaRPr lang="en-US" altLang="zh-TW" sz="1800" dirty="0"/>
          </a:p>
          <a:p>
            <a:endParaRPr lang="en-US" altLang="zh-TW" sz="1800" dirty="0">
              <a:latin typeface="+mn-ea"/>
            </a:endParaRPr>
          </a:p>
          <a:p>
            <a:endParaRPr lang="en-US" altLang="zh-TW" sz="1800" dirty="0">
              <a:latin typeface="+mn-ea"/>
            </a:endParaRPr>
          </a:p>
          <a:p>
            <a:endParaRPr lang="en-US" altLang="zh-TW" sz="1800" dirty="0">
              <a:latin typeface="+mn-ea"/>
            </a:endParaRPr>
          </a:p>
          <a:p>
            <a:endParaRPr lang="en-US" altLang="zh-TW" sz="1800" dirty="0">
              <a:latin typeface="+mn-ea"/>
            </a:endParaRPr>
          </a:p>
          <a:p>
            <a:r>
              <a:rPr lang="zh-TW" altLang="en-US" sz="1800" dirty="0">
                <a:latin typeface="+mn-ea"/>
              </a:rPr>
              <a:t>若條件式結果為</a:t>
            </a:r>
            <a:r>
              <a:rPr lang="en-US" altLang="zh-TW" sz="1800" dirty="0" err="1">
                <a:latin typeface="+mn-ea"/>
              </a:rPr>
              <a:t>ture</a:t>
            </a:r>
            <a:r>
              <a:rPr lang="zh-TW" altLang="en-US" sz="1800" dirty="0">
                <a:latin typeface="+mn-ea"/>
              </a:rPr>
              <a:t>，執行程式敘述區塊</a:t>
            </a:r>
          </a:p>
          <a:p>
            <a:r>
              <a:rPr lang="zh-TW" altLang="en-US" sz="1800" dirty="0">
                <a:latin typeface="+mn-ea"/>
              </a:rPr>
              <a:t>若條件式結果為</a:t>
            </a:r>
            <a:r>
              <a:rPr lang="en-US" altLang="zh-TW" sz="1800" dirty="0">
                <a:latin typeface="+mn-ea"/>
              </a:rPr>
              <a:t>false</a:t>
            </a:r>
            <a:r>
              <a:rPr lang="zh-TW" altLang="en-US" sz="1800" dirty="0">
                <a:latin typeface="+mn-ea"/>
              </a:rPr>
              <a:t>，則跳過不執行敘述區塊</a:t>
            </a:r>
          </a:p>
          <a:p>
            <a:endParaRPr lang="zh-TW" altLang="en-US" sz="1800" dirty="0">
              <a:latin typeface="+mn-ea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2E78053-5D58-4079-8F85-19DEDFD50A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D2C3F77-BD0D-4AB7-B93D-EEDF665641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850B2B-07AE-4D9B-8B8B-FC5402625D5E}"/>
              </a:ext>
            </a:extLst>
          </p:cNvPr>
          <p:cNvSpPr/>
          <p:nvPr/>
        </p:nvSpPr>
        <p:spPr>
          <a:xfrm>
            <a:off x="852715" y="2787774"/>
            <a:ext cx="5328591" cy="10766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600" dirty="0">
                <a:solidFill>
                  <a:schemeClr val="tx1"/>
                </a:solidFill>
                <a:latin typeface="+mn-ea"/>
              </a:rPr>
              <a:t>if (num&lt;0){</a:t>
            </a:r>
            <a:r>
              <a:rPr lang="zh-TW" altLang="en-US" sz="1600" dirty="0">
                <a:solidFill>
                  <a:schemeClr val="tx1"/>
                </a:solidFill>
                <a:latin typeface="+mn-ea"/>
              </a:rPr>
              <a:t/>
            </a:r>
            <a:br>
              <a:rPr lang="zh-TW" altLang="en-US" sz="1600" dirty="0">
                <a:solidFill>
                  <a:schemeClr val="tx1"/>
                </a:solidFill>
                <a:latin typeface="+mn-ea"/>
              </a:rPr>
            </a:br>
            <a:r>
              <a:rPr lang="zh-TW" altLang="en-US" sz="1600" dirty="0">
                <a:solidFill>
                  <a:schemeClr val="tx1"/>
                </a:solidFill>
                <a:latin typeface="+mn-ea"/>
              </a:rPr>
              <a:t>   </a:t>
            </a:r>
            <a:r>
              <a:rPr lang="en-US" altLang="zh-TW" sz="1600" dirty="0" err="1">
                <a:solidFill>
                  <a:schemeClr val="tx1"/>
                </a:solidFill>
                <a:latin typeface="+mn-ea"/>
              </a:rPr>
              <a:t>document.write</a:t>
            </a:r>
            <a:r>
              <a:rPr lang="en-US" altLang="zh-TW" sz="1600" dirty="0">
                <a:solidFill>
                  <a:schemeClr val="tx1"/>
                </a:solidFill>
                <a:latin typeface="+mn-ea"/>
              </a:rPr>
              <a:t>(“</a:t>
            </a:r>
            <a:r>
              <a:rPr lang="zh-TW" altLang="en-US" sz="1600" dirty="0">
                <a:solidFill>
                  <a:schemeClr val="tx1"/>
                </a:solidFill>
                <a:latin typeface="+mn-ea"/>
              </a:rPr>
              <a:t>輸入的值為負數</a:t>
            </a:r>
            <a:r>
              <a:rPr lang="en-US" altLang="zh-TW" sz="1600" dirty="0">
                <a:solidFill>
                  <a:schemeClr val="tx1"/>
                </a:solidFill>
                <a:latin typeface="+mn-ea"/>
              </a:rPr>
              <a:t>&lt;</a:t>
            </a:r>
            <a:r>
              <a:rPr lang="en-US" altLang="zh-TW" sz="1600" dirty="0" err="1">
                <a:solidFill>
                  <a:schemeClr val="tx1"/>
                </a:solidFill>
                <a:latin typeface="+mn-ea"/>
              </a:rPr>
              <a:t>br</a:t>
            </a:r>
            <a:r>
              <a:rPr lang="en-US" altLang="zh-TW" sz="1600" dirty="0">
                <a:solidFill>
                  <a:schemeClr val="tx1"/>
                </a:solidFill>
                <a:latin typeface="+mn-ea"/>
              </a:rPr>
              <a:t>/&gt;");</a:t>
            </a:r>
            <a:r>
              <a:rPr lang="zh-TW" altLang="en-US" sz="1600" dirty="0">
                <a:solidFill>
                  <a:schemeClr val="tx1"/>
                </a:solidFill>
                <a:latin typeface="+mn-ea"/>
              </a:rPr>
              <a:t/>
            </a:r>
            <a:br>
              <a:rPr lang="zh-TW" altLang="en-US" sz="1600" dirty="0">
                <a:solidFill>
                  <a:schemeClr val="tx1"/>
                </a:solidFill>
                <a:latin typeface="+mn-ea"/>
              </a:rPr>
            </a:br>
            <a:r>
              <a:rPr lang="en-US" altLang="zh-TW" sz="1600" dirty="0">
                <a:solidFill>
                  <a:schemeClr val="tx1"/>
                </a:solidFill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22199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6CEC22-97A8-4810-83F6-691E15D21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+mn-ea"/>
                <a:ea typeface="+mn-ea"/>
              </a:rPr>
              <a:t>if/else</a:t>
            </a:r>
            <a:r>
              <a:rPr lang="zh-TW" altLang="en-US" sz="2800" dirty="0">
                <a:latin typeface="+mn-ea"/>
                <a:ea typeface="+mn-ea"/>
              </a:rPr>
              <a:t>二選一條件敘述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B6BC3A-6648-4E20-B91E-ED4221927D2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sz="1800" dirty="0">
                <a:latin typeface="+mn-ea"/>
              </a:rPr>
              <a:t>如果擁有兩個程式區塊，而且只能二選一，執行其中一個程式區塊，若條件式為</a:t>
            </a:r>
            <a:r>
              <a:rPr lang="en-US" altLang="zh-TW" sz="1800" dirty="0">
                <a:latin typeface="+mn-ea"/>
              </a:rPr>
              <a:t>true</a:t>
            </a:r>
            <a:r>
              <a:rPr lang="zh-TW" altLang="en-US" sz="1800" dirty="0">
                <a:latin typeface="+mn-ea"/>
              </a:rPr>
              <a:t>時，執行區塊敘述一，否則</a:t>
            </a:r>
            <a:r>
              <a:rPr lang="en-US" altLang="zh-TW" sz="1800" dirty="0">
                <a:latin typeface="+mn-ea"/>
              </a:rPr>
              <a:t>(</a:t>
            </a:r>
            <a:r>
              <a:rPr lang="zh-TW" altLang="en-US" sz="1800" dirty="0">
                <a:latin typeface="+mn-ea"/>
              </a:rPr>
              <a:t>條件式為</a:t>
            </a:r>
            <a:r>
              <a:rPr lang="en-US" altLang="zh-TW" sz="1800" dirty="0" err="1">
                <a:latin typeface="+mn-ea"/>
              </a:rPr>
              <a:t>fasle</a:t>
            </a:r>
            <a:r>
              <a:rPr lang="zh-TW" altLang="en-US" sz="1800" dirty="0">
                <a:latin typeface="+mn-ea"/>
              </a:rPr>
              <a:t>時</a:t>
            </a:r>
            <a:r>
              <a:rPr lang="en-US" altLang="zh-TW" sz="1800" dirty="0">
                <a:latin typeface="+mn-ea"/>
              </a:rPr>
              <a:t>)</a:t>
            </a:r>
            <a:r>
              <a:rPr lang="zh-TW" altLang="en-US" sz="1800" dirty="0">
                <a:latin typeface="+mn-ea"/>
              </a:rPr>
              <a:t>，執行區塊敘述二。例如：判斷成績是否及格，就是只能二選一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2E78053-5D58-4079-8F85-19DEDFD50A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D2C3F77-BD0D-4AB7-B93D-EEDF665641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E9C091-5EB1-424B-9B08-857EA11AC292}"/>
              </a:ext>
            </a:extLst>
          </p:cNvPr>
          <p:cNvSpPr/>
          <p:nvPr/>
        </p:nvSpPr>
        <p:spPr>
          <a:xfrm>
            <a:off x="980728" y="2503491"/>
            <a:ext cx="5328591" cy="13644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if (Grade &gt;= 60) {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document.write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(“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恭喜及格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= ”+ Grade +“&lt;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br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/&gt;”);//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區塊一</a:t>
            </a:r>
            <a:endParaRPr lang="en-US" altLang="zh-TW" sz="1200" dirty="0">
              <a:solidFill>
                <a:schemeClr val="tx1"/>
              </a:solidFill>
              <a:latin typeface="+mn-ea"/>
            </a:endParaRP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}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else {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document.write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(“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不及格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= ”+ Grade +“&lt;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br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/&gt;”);//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區塊二</a:t>
            </a:r>
            <a:endParaRPr lang="en-US" altLang="zh-TW" sz="1200" dirty="0">
              <a:solidFill>
                <a:schemeClr val="tx1"/>
              </a:solidFill>
              <a:latin typeface="+mn-ea"/>
            </a:endParaRP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58330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6CEC22-97A8-4810-83F6-691E15D21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+mn-ea"/>
                <a:ea typeface="+mn-ea"/>
              </a:rPr>
              <a:t>if/else</a:t>
            </a:r>
            <a:r>
              <a:rPr lang="zh-TW" altLang="en-US" sz="2800" dirty="0">
                <a:latin typeface="+mn-ea"/>
                <a:ea typeface="+mn-ea"/>
              </a:rPr>
              <a:t>多選一條件敘述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B6BC3A-6648-4E20-B91E-ED4221927D2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sz="1800" dirty="0">
                <a:latin typeface="+mn-ea"/>
              </a:rPr>
              <a:t>在</a:t>
            </a:r>
            <a:r>
              <a:rPr lang="en-US" altLang="zh-TW" sz="1800" dirty="0">
                <a:latin typeface="+mn-ea"/>
              </a:rPr>
              <a:t>JavaScript</a:t>
            </a:r>
            <a:r>
              <a:rPr lang="zh-TW" altLang="en-US" sz="1800" dirty="0">
                <a:latin typeface="+mn-ea"/>
              </a:rPr>
              <a:t>程式如果需要多選一條件敘述，可以巢狀</a:t>
            </a:r>
            <a:r>
              <a:rPr lang="en-US" altLang="zh-TW" sz="1800" dirty="0">
                <a:latin typeface="+mn-ea"/>
              </a:rPr>
              <a:t>if/else</a:t>
            </a:r>
            <a:r>
              <a:rPr lang="zh-TW" altLang="en-US" sz="1800" dirty="0">
                <a:latin typeface="+mn-ea"/>
              </a:rPr>
              <a:t>敘述，例如：公車票是</a:t>
            </a:r>
            <a:r>
              <a:rPr lang="en-US" altLang="zh-TW" sz="1800" dirty="0">
                <a:latin typeface="+mn-ea"/>
              </a:rPr>
              <a:t>18</a:t>
            </a:r>
            <a:r>
              <a:rPr lang="zh-TW" altLang="en-US" sz="1800" dirty="0">
                <a:latin typeface="+mn-ea"/>
              </a:rPr>
              <a:t>歲以下購買半票</a:t>
            </a:r>
            <a:r>
              <a:rPr lang="en-US" altLang="zh-TW" sz="1800" dirty="0">
                <a:latin typeface="+mn-ea"/>
              </a:rPr>
              <a:t>;19~64</a:t>
            </a:r>
            <a:r>
              <a:rPr lang="zh-TW" altLang="en-US" sz="1800" dirty="0">
                <a:latin typeface="+mn-ea"/>
              </a:rPr>
              <a:t>歲購買全票；</a:t>
            </a:r>
            <a:r>
              <a:rPr lang="en-US" altLang="zh-TW" sz="1800" dirty="0">
                <a:latin typeface="+mn-ea"/>
              </a:rPr>
              <a:t>65</a:t>
            </a:r>
            <a:r>
              <a:rPr lang="zh-TW" altLang="en-US" sz="1800" dirty="0">
                <a:latin typeface="+mn-ea"/>
              </a:rPr>
              <a:t>歲以上購買敬老票。</a:t>
            </a:r>
            <a:endParaRPr lang="en-US" altLang="zh-TW" sz="1800" dirty="0">
              <a:latin typeface="+mn-ea"/>
            </a:endParaRPr>
          </a:p>
          <a:p>
            <a:endParaRPr lang="en-US" altLang="zh-TW" sz="1800" dirty="0">
              <a:latin typeface="+mn-ea"/>
            </a:endParaRPr>
          </a:p>
          <a:p>
            <a:endParaRPr lang="en-US" altLang="zh-TW" sz="1800" dirty="0">
              <a:latin typeface="+mn-ea"/>
            </a:endParaRPr>
          </a:p>
          <a:p>
            <a:endParaRPr lang="en-US" altLang="zh-TW" sz="1800" dirty="0">
              <a:latin typeface="+mn-ea"/>
            </a:endParaRPr>
          </a:p>
          <a:p>
            <a:pPr marL="0" indent="0">
              <a:buNone/>
            </a:pPr>
            <a:endParaRPr lang="en-US" altLang="zh-TW" sz="1800" dirty="0">
              <a:latin typeface="+mn-ea"/>
            </a:endParaRPr>
          </a:p>
          <a:p>
            <a:r>
              <a:rPr lang="zh-TW" altLang="en-US" sz="1800" dirty="0">
                <a:latin typeface="+mn-ea"/>
              </a:rPr>
              <a:t>當條件式一結果為</a:t>
            </a:r>
            <a:r>
              <a:rPr lang="en-US" altLang="zh-TW" sz="1800" dirty="0">
                <a:latin typeface="+mn-ea"/>
              </a:rPr>
              <a:t>true</a:t>
            </a:r>
            <a:r>
              <a:rPr lang="zh-TW" altLang="en-US" sz="1800" dirty="0">
                <a:latin typeface="+mn-ea"/>
              </a:rPr>
              <a:t>時，則執行區塊敘述一，後面就不繼續進行判斷。</a:t>
            </a:r>
          </a:p>
          <a:p>
            <a:r>
              <a:rPr lang="zh-TW" altLang="en-US" sz="1800" dirty="0">
                <a:latin typeface="+mn-ea"/>
              </a:rPr>
              <a:t>利用此結構能避免重複判斷，改善效能問題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2E78053-5D58-4079-8F85-19DEDFD50A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D2C3F77-BD0D-4AB7-B93D-EEDF665641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E9C091-5EB1-424B-9B08-857EA11AC292}"/>
              </a:ext>
            </a:extLst>
          </p:cNvPr>
          <p:cNvSpPr/>
          <p:nvPr/>
        </p:nvSpPr>
        <p:spPr>
          <a:xfrm>
            <a:off x="764704" y="2139702"/>
            <a:ext cx="5328591" cy="123226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if (Age &lt;= 18)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  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document.write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("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購買半票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!&lt;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br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/&gt;");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else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if (Age &gt;= 65)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 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document.write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("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購買敬老票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!&lt;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br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/&gt;");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else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 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document.write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("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購買全票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!&lt;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br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/&gt;");</a:t>
            </a:r>
          </a:p>
        </p:txBody>
      </p:sp>
    </p:spTree>
    <p:extLst>
      <p:ext uri="{BB962C8B-B14F-4D97-AF65-F5344CB8AC3E}">
        <p14:creationId xmlns:p14="http://schemas.microsoft.com/office/powerpoint/2010/main" val="2456438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6CEC22-97A8-4810-83F6-691E15D21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+mn-ea"/>
                <a:ea typeface="+mn-ea"/>
              </a:rPr>
              <a:t>if/else</a:t>
            </a:r>
            <a:r>
              <a:rPr lang="zh-TW" altLang="en-US" sz="2800" dirty="0">
                <a:latin typeface="+mn-ea"/>
                <a:ea typeface="+mn-ea"/>
              </a:rPr>
              <a:t>多選一條件敘述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B6BC3A-6648-4E20-B91E-ED4221927D2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sz="1600" dirty="0">
                <a:latin typeface="Tw Cen MT" panose="020B0602020104020603" pitchFamily="34" charset="0"/>
              </a:rPr>
              <a:t>以下程式結果相同，皆能判別出目前所輸入數字的正負，但效能不同。</a:t>
            </a:r>
            <a:endParaRPr lang="en-US" altLang="zh-TW" sz="1600" dirty="0">
              <a:latin typeface="Tw Cen MT" panose="020B0602020104020603" pitchFamily="34" charset="0"/>
            </a:endParaRPr>
          </a:p>
          <a:p>
            <a:endParaRPr lang="en-US" altLang="zh-TW" sz="1600" dirty="0">
              <a:latin typeface="Tw Cen MT" panose="020B0602020104020603" pitchFamily="34" charset="0"/>
            </a:endParaRPr>
          </a:p>
          <a:p>
            <a:endParaRPr lang="en-US" altLang="zh-TW" sz="1600" dirty="0">
              <a:latin typeface="Tw Cen MT" panose="020B0602020104020603" pitchFamily="34" charset="0"/>
            </a:endParaRPr>
          </a:p>
          <a:p>
            <a:endParaRPr lang="en-US" altLang="zh-TW" sz="1600" dirty="0">
              <a:latin typeface="Tw Cen MT" panose="020B0602020104020603" pitchFamily="34" charset="0"/>
            </a:endParaRPr>
          </a:p>
          <a:p>
            <a:endParaRPr lang="en-US" altLang="zh-TW" sz="1600" dirty="0">
              <a:latin typeface="Tw Cen MT" panose="020B0602020104020603" pitchFamily="34" charset="0"/>
            </a:endParaRPr>
          </a:p>
          <a:p>
            <a:pPr marL="0" indent="0">
              <a:buNone/>
            </a:pPr>
            <a:endParaRPr lang="zh-TW" altLang="en-US" sz="1600" dirty="0">
              <a:latin typeface="Tw Cen MT" panose="020B0602020104020603" pitchFamily="34" charset="0"/>
            </a:endParaRPr>
          </a:p>
          <a:p>
            <a:endParaRPr lang="zh-TW" altLang="en-US" sz="1600" dirty="0"/>
          </a:p>
          <a:p>
            <a:endParaRPr lang="zh-TW" altLang="en-US" sz="1600" dirty="0">
              <a:latin typeface="+mn-ea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2E78053-5D58-4079-8F85-19DEDFD50A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D2C3F77-BD0D-4AB7-B93D-EEDF665641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E9C091-5EB1-424B-9B08-857EA11AC292}"/>
              </a:ext>
            </a:extLst>
          </p:cNvPr>
          <p:cNvSpPr/>
          <p:nvPr/>
        </p:nvSpPr>
        <p:spPr>
          <a:xfrm>
            <a:off x="764704" y="1779662"/>
            <a:ext cx="5328591" cy="13042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if(num==0){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	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document.write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(“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此數字為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0");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}if(num&lt;0){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	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document.write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(“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此數字為負數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");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}if(num&gt;0) {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	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document.write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(“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此數字為正數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");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948E9E-C178-48EB-BFD0-65B57E23DC22}"/>
              </a:ext>
            </a:extLst>
          </p:cNvPr>
          <p:cNvSpPr/>
          <p:nvPr/>
        </p:nvSpPr>
        <p:spPr>
          <a:xfrm>
            <a:off x="764704" y="3414131"/>
            <a:ext cx="5328591" cy="13042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if(num==0){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	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document.write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(“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此數字為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0");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}else if(num&lt;0){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	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document.write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(“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此數字為負數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");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}else {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	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document.write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(“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此數字為正數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");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}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7918D56-C61D-43D0-AC81-73707F676DA1}"/>
              </a:ext>
            </a:extLst>
          </p:cNvPr>
          <p:cNvSpPr txBox="1"/>
          <p:nvPr/>
        </p:nvSpPr>
        <p:spPr>
          <a:xfrm>
            <a:off x="757114" y="3091933"/>
            <a:ext cx="52341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/>
              <a:t>上圖使用多個判斷式，下圖使用使用</a:t>
            </a:r>
            <a:r>
              <a:rPr lang="en-US" altLang="zh-TW" sz="1600" dirty="0"/>
              <a:t>If/else</a:t>
            </a:r>
            <a:r>
              <a:rPr lang="zh-TW" altLang="en-US" sz="1600" dirty="0"/>
              <a:t>多層巢狀結構</a:t>
            </a:r>
          </a:p>
        </p:txBody>
      </p:sp>
    </p:spTree>
    <p:extLst>
      <p:ext uri="{BB962C8B-B14F-4D97-AF65-F5344CB8AC3E}">
        <p14:creationId xmlns:p14="http://schemas.microsoft.com/office/powerpoint/2010/main" val="3286857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6CEC22-97A8-4810-83F6-691E15D21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+mn-ea"/>
              </a:rPr>
              <a:t>switch</a:t>
            </a:r>
            <a:r>
              <a:rPr lang="zh-TW" altLang="en-US" sz="2800" dirty="0">
                <a:latin typeface="+mn-ea"/>
                <a:ea typeface="+mn-ea"/>
              </a:rPr>
              <a:t>多選一條件敘述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B6BC3A-6648-4E20-B91E-ED4221927D2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9486" y="1200150"/>
            <a:ext cx="2969514" cy="3459832"/>
          </a:xfrm>
        </p:spPr>
        <p:txBody>
          <a:bodyPr/>
          <a:lstStyle/>
          <a:p>
            <a:r>
              <a:rPr lang="en-US" altLang="zh-TW" sz="1600" dirty="0">
                <a:latin typeface="+mn-ea"/>
              </a:rPr>
              <a:t>switch</a:t>
            </a:r>
            <a:r>
              <a:rPr lang="zh-TW" altLang="en-US" sz="1600" dirty="0">
                <a:latin typeface="+mn-ea"/>
              </a:rPr>
              <a:t>多選一條件敘述，直接依照符合條件來執行不同程式區塊的程式碼。</a:t>
            </a:r>
            <a:endParaRPr lang="en-US" altLang="zh-TW" sz="1600" dirty="0">
              <a:latin typeface="+mn-ea"/>
            </a:endParaRPr>
          </a:p>
          <a:p>
            <a:r>
              <a:rPr lang="zh-TW" altLang="en-US" sz="1600" dirty="0">
                <a:latin typeface="+mn-ea"/>
              </a:rPr>
              <a:t>鍵值與條件值</a:t>
            </a:r>
            <a:r>
              <a:rPr lang="en-US" altLang="zh-TW" sz="1600" dirty="0">
                <a:latin typeface="+mn-ea"/>
              </a:rPr>
              <a:t>1</a:t>
            </a:r>
            <a:r>
              <a:rPr lang="zh-TW" altLang="en-US" sz="1600" dirty="0">
                <a:latin typeface="+mn-ea"/>
              </a:rPr>
              <a:t>比對，如果兩值相等，則執行區段</a:t>
            </a:r>
            <a:r>
              <a:rPr lang="en-US" altLang="zh-TW" sz="1600" dirty="0">
                <a:latin typeface="+mn-ea"/>
              </a:rPr>
              <a:t>1</a:t>
            </a:r>
            <a:r>
              <a:rPr lang="zh-TW" altLang="en-US" sz="1600" dirty="0">
                <a:latin typeface="+mn-ea"/>
              </a:rPr>
              <a:t>敘述，並透過</a:t>
            </a:r>
            <a:r>
              <a:rPr lang="en-US" altLang="zh-TW" sz="1600" dirty="0">
                <a:latin typeface="+mn-ea"/>
              </a:rPr>
              <a:t>break</a:t>
            </a:r>
            <a:r>
              <a:rPr lang="zh-TW" altLang="en-US" sz="1600" dirty="0">
                <a:latin typeface="+mn-ea"/>
              </a:rPr>
              <a:t>指令，跳離</a:t>
            </a:r>
            <a:r>
              <a:rPr lang="en-US" altLang="zh-TW" sz="1600" dirty="0">
                <a:latin typeface="+mn-ea"/>
              </a:rPr>
              <a:t>switch</a:t>
            </a:r>
            <a:r>
              <a:rPr lang="zh-TW" altLang="en-US" sz="1600" dirty="0">
                <a:latin typeface="+mn-ea"/>
              </a:rPr>
              <a:t>敘述</a:t>
            </a:r>
          </a:p>
          <a:p>
            <a:r>
              <a:rPr lang="zh-TW" altLang="en-US" sz="1600" dirty="0">
                <a:latin typeface="+mn-ea"/>
              </a:rPr>
              <a:t>若鍵值與條件值</a:t>
            </a:r>
            <a:r>
              <a:rPr lang="en-US" altLang="zh-TW" sz="1600" dirty="0">
                <a:latin typeface="+mn-ea"/>
              </a:rPr>
              <a:t>1</a:t>
            </a:r>
            <a:r>
              <a:rPr lang="zh-TW" altLang="en-US" sz="1600" dirty="0">
                <a:latin typeface="+mn-ea"/>
              </a:rPr>
              <a:t>比對，兩值不相等時，則繼續執行區段</a:t>
            </a:r>
            <a:r>
              <a:rPr lang="en-US" altLang="zh-TW" sz="1600" dirty="0">
                <a:latin typeface="+mn-ea"/>
              </a:rPr>
              <a:t>2</a:t>
            </a:r>
            <a:r>
              <a:rPr lang="zh-TW" altLang="en-US" sz="1600" dirty="0">
                <a:latin typeface="+mn-ea"/>
              </a:rPr>
              <a:t>敘述，以此類推</a:t>
            </a:r>
          </a:p>
          <a:p>
            <a:r>
              <a:rPr lang="zh-TW" altLang="en-US" sz="1600" dirty="0">
                <a:latin typeface="+mn-ea"/>
              </a:rPr>
              <a:t>若鍵值與所有條件直都不相等時，則執行</a:t>
            </a:r>
            <a:r>
              <a:rPr lang="en-US" altLang="zh-TW" sz="1600" dirty="0">
                <a:latin typeface="+mn-ea"/>
              </a:rPr>
              <a:t>default</a:t>
            </a:r>
            <a:r>
              <a:rPr lang="zh-TW" altLang="en-US" sz="1600" dirty="0">
                <a:latin typeface="+mn-ea"/>
              </a:rPr>
              <a:t>下的</a:t>
            </a:r>
            <a:r>
              <a:rPr lang="en-US" altLang="zh-TW" sz="1600" dirty="0">
                <a:latin typeface="+mn-ea"/>
              </a:rPr>
              <a:t>default</a:t>
            </a:r>
            <a:r>
              <a:rPr lang="zh-TW" altLang="en-US" sz="1600" dirty="0">
                <a:latin typeface="+mn-ea"/>
              </a:rPr>
              <a:t>區段敘述。</a:t>
            </a:r>
          </a:p>
          <a:p>
            <a:endParaRPr lang="zh-TW" altLang="en-US" sz="1600" dirty="0">
              <a:latin typeface="+mn-ea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2E78053-5D58-4079-8F85-19DEDFD50A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D2C3F77-BD0D-4AB7-B93D-EEDF665641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8AF05C-121C-4AC1-846E-496F6FF2489F}"/>
              </a:ext>
            </a:extLst>
          </p:cNvPr>
          <p:cNvSpPr/>
          <p:nvPr/>
        </p:nvSpPr>
        <p:spPr>
          <a:xfrm>
            <a:off x="3517011" y="1423452"/>
            <a:ext cx="3089994" cy="2925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switch (train){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   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//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鍵值</a:t>
            </a:r>
            <a:endParaRPr lang="en-US" altLang="zh-TW" sz="1200" dirty="0">
              <a:solidFill>
                <a:schemeClr val="tx1"/>
              </a:solidFill>
              <a:latin typeface="+mn-ea"/>
            </a:endParaRP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case 1: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document.write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(“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普悠瑪號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!&lt;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br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/&gt;");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    break;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case 2: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document.write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(“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自強號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!&lt;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br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/&gt;");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    break;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case 3: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document.write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(“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莒光號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!&lt;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br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/&gt;");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    break;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default: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document.write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(“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區間車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!&lt;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br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/&gt;");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03923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81DB80-48AE-4890-8209-A6CE600BE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+mj-ea"/>
              </a:rPr>
              <a:t>Lab01-</a:t>
            </a:r>
            <a:r>
              <a:rPr lang="zh-TW" altLang="en-US" sz="2800" dirty="0">
                <a:latin typeface="+mj-ea"/>
              </a:rPr>
              <a:t>判斷成績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D9DE30-D5F2-47AF-8200-3D92F4BED8A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利用</a:t>
            </a:r>
            <a:r>
              <a:rPr lang="en-US" altLang="zh-TW" dirty="0"/>
              <a:t>if/else</a:t>
            </a:r>
            <a:r>
              <a:rPr lang="zh-TW" altLang="en-US" dirty="0"/>
              <a:t>來進行成績判斷</a:t>
            </a:r>
            <a:endParaRPr lang="en-US" altLang="zh-TW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F63674D-5DCD-4E2E-B720-881EC85F9A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1741B2B-FD17-42B8-ADCB-92316F6B9A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D9E3941-2DB0-4F97-9728-380703176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587" y="2033120"/>
            <a:ext cx="4314825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1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81DB80-48AE-4890-8209-A6CE600BE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+mj-ea"/>
              </a:rPr>
              <a:t>Lab01-</a:t>
            </a:r>
            <a:r>
              <a:rPr lang="zh-TW" altLang="en-US" sz="2800" dirty="0">
                <a:latin typeface="+mj-ea"/>
              </a:rPr>
              <a:t>判斷成績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F63674D-5DCD-4E2E-B720-881EC85F9A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1741B2B-FD17-42B8-ADCB-92316F6B9A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4568F90-4E6B-4073-992B-E1E60CC87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007" y="1394672"/>
            <a:ext cx="4065985" cy="305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724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81DB80-48AE-4890-8209-A6CE600BE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+mj-ea"/>
              </a:rPr>
              <a:t>Lab01-</a:t>
            </a:r>
            <a:r>
              <a:rPr lang="zh-TW" altLang="en-US" sz="2800" dirty="0">
                <a:latin typeface="+mj-ea"/>
              </a:rPr>
              <a:t>判斷成績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F63674D-5DCD-4E2E-B720-881EC85F9A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1741B2B-FD17-42B8-ADCB-92316F6B9A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7D7C120-E22D-4E15-8AA4-54E89D3F1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832" y="1491630"/>
            <a:ext cx="4126336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145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58987BA-0376-4EB1-9B8B-449471D91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迴圈控制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3D53B3-C002-44F5-861C-4933C4176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zh-TW" altLang="en-US" dirty="0"/>
              <a:t>國立雲林科技大學 互動多媒體設計實驗室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142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6CEC22-97A8-4810-83F6-691E15D21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+mn-ea"/>
              </a:rPr>
              <a:t>for</a:t>
            </a:r>
            <a:r>
              <a:rPr lang="zh-TW" altLang="en-US" sz="2800" dirty="0">
                <a:latin typeface="+mn-ea"/>
              </a:rPr>
              <a:t>迴圈敘述</a:t>
            </a:r>
            <a:endParaRPr lang="zh-TW" altLang="en-US" sz="2800" dirty="0">
              <a:latin typeface="+mn-ea"/>
              <a:ea typeface="+mn-ea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B6BC3A-6648-4E20-B91E-ED4221927D2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sz="1600" dirty="0">
                <a:latin typeface="+mn-ea"/>
              </a:rPr>
              <a:t>for</a:t>
            </a:r>
            <a:r>
              <a:rPr lang="zh-TW" altLang="en-US" sz="1600" dirty="0">
                <a:latin typeface="+mn-ea"/>
              </a:rPr>
              <a:t>迴圈稱為計數迴圈，可以用來執行一段程式碼，當變數值與設定的條件符合時，就會持續執行到條件不符合才停止執行。</a:t>
            </a:r>
            <a:endParaRPr lang="en-US" altLang="zh-TW" sz="1600" dirty="0">
              <a:latin typeface="+mn-ea"/>
            </a:endParaRPr>
          </a:p>
          <a:p>
            <a:pPr marL="0" indent="0">
              <a:buNone/>
            </a:pPr>
            <a:endParaRPr lang="en-US" altLang="zh-TW" sz="1600" dirty="0">
              <a:latin typeface="+mn-ea"/>
            </a:endParaRPr>
          </a:p>
          <a:p>
            <a:r>
              <a:rPr lang="zh-TW" altLang="en-US" sz="1600" dirty="0">
                <a:latin typeface="+mn-ea"/>
              </a:rPr>
              <a:t>起始式</a:t>
            </a:r>
            <a:r>
              <a:rPr lang="en-US" altLang="zh-TW" sz="1600" dirty="0">
                <a:latin typeface="+mn-ea"/>
              </a:rPr>
              <a:t/>
            </a:r>
            <a:br>
              <a:rPr lang="en-US" altLang="zh-TW" sz="1600" dirty="0">
                <a:latin typeface="+mn-ea"/>
              </a:rPr>
            </a:br>
            <a:r>
              <a:rPr lang="zh-TW" altLang="en-US" sz="1600" dirty="0">
                <a:latin typeface="+mn-ea"/>
              </a:rPr>
              <a:t>進入迴圈時，一開始執行的程式運算式，只執行一次。起始式為設定控制迴圈執行變數的起始值。</a:t>
            </a:r>
          </a:p>
          <a:p>
            <a:r>
              <a:rPr lang="zh-TW" altLang="en-US" sz="1600" dirty="0">
                <a:latin typeface="+mn-ea"/>
              </a:rPr>
              <a:t>條件式</a:t>
            </a:r>
            <a:r>
              <a:rPr lang="en-US" altLang="zh-TW" sz="1600" dirty="0">
                <a:latin typeface="+mn-ea"/>
              </a:rPr>
              <a:t/>
            </a:r>
            <a:br>
              <a:rPr lang="en-US" altLang="zh-TW" sz="1600" dirty="0">
                <a:latin typeface="+mn-ea"/>
              </a:rPr>
            </a:br>
            <a:r>
              <a:rPr lang="zh-TW" altLang="en-US" sz="1600" dirty="0">
                <a:latin typeface="+mn-ea"/>
              </a:rPr>
              <a:t>判斷是否執行迴圈內區塊的依據。</a:t>
            </a:r>
            <a:r>
              <a:rPr lang="en-US" altLang="zh-TW" sz="1600" dirty="0">
                <a:latin typeface="+mn-ea"/>
              </a:rPr>
              <a:t/>
            </a:r>
            <a:br>
              <a:rPr lang="en-US" altLang="zh-TW" sz="1600" dirty="0">
                <a:latin typeface="+mn-ea"/>
              </a:rPr>
            </a:br>
            <a:r>
              <a:rPr lang="zh-TW" altLang="en-US" sz="1600" dirty="0">
                <a:latin typeface="+mn-ea"/>
              </a:rPr>
              <a:t>如果條件式結果為</a:t>
            </a:r>
            <a:r>
              <a:rPr lang="en-US" altLang="zh-TW" sz="1600" dirty="0" err="1">
                <a:latin typeface="+mn-ea"/>
              </a:rPr>
              <a:t>ture</a:t>
            </a:r>
            <a:r>
              <a:rPr lang="zh-TW" altLang="en-US" sz="1600" dirty="0">
                <a:latin typeface="+mn-ea"/>
              </a:rPr>
              <a:t>，則繼續執行「區塊內的敘述」。如果條件式結果為</a:t>
            </a:r>
            <a:r>
              <a:rPr lang="en-US" altLang="zh-TW" sz="1600" dirty="0">
                <a:latin typeface="+mn-ea"/>
              </a:rPr>
              <a:t>false</a:t>
            </a:r>
            <a:r>
              <a:rPr lang="zh-TW" altLang="en-US" sz="1600" dirty="0">
                <a:latin typeface="+mn-ea"/>
              </a:rPr>
              <a:t>，則跳離迴圈。</a:t>
            </a:r>
          </a:p>
          <a:p>
            <a:r>
              <a:rPr lang="zh-TW" altLang="en-US" sz="1600" dirty="0">
                <a:latin typeface="+mn-ea"/>
              </a:rPr>
              <a:t>步進式</a:t>
            </a:r>
            <a:r>
              <a:rPr lang="en-US" altLang="zh-TW" sz="1600" dirty="0">
                <a:latin typeface="+mn-ea"/>
              </a:rPr>
              <a:t/>
            </a:r>
            <a:br>
              <a:rPr lang="en-US" altLang="zh-TW" sz="1600" dirty="0">
                <a:latin typeface="+mn-ea"/>
              </a:rPr>
            </a:br>
            <a:r>
              <a:rPr lang="zh-TW" altLang="en-US" sz="1600" dirty="0">
                <a:latin typeface="+mn-ea"/>
              </a:rPr>
              <a:t>每經過一次迴圈，就會執行一次的運算式</a:t>
            </a:r>
            <a:r>
              <a:rPr lang="en-US" altLang="zh-TW" sz="1600" dirty="0">
                <a:latin typeface="+mn-ea"/>
              </a:rPr>
              <a:t/>
            </a:r>
            <a:br>
              <a:rPr lang="en-US" altLang="zh-TW" sz="1600" dirty="0">
                <a:latin typeface="+mn-ea"/>
              </a:rPr>
            </a:br>
            <a:r>
              <a:rPr lang="zh-TW" altLang="en-US" sz="1600" dirty="0">
                <a:latin typeface="+mn-ea"/>
              </a:rPr>
              <a:t>步進式設定控制迴圈執行變數的遞增或遞減的運算式</a:t>
            </a:r>
            <a:endParaRPr lang="en-US" altLang="zh-TW" sz="1600" dirty="0">
              <a:latin typeface="+mn-ea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2E78053-5D58-4079-8F85-19DEDFD50A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D2C3F77-BD0D-4AB7-B93D-EEDF665641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EBCB38C-E4A7-4822-8923-C25D818E0B28}"/>
              </a:ext>
            </a:extLst>
          </p:cNvPr>
          <p:cNvSpPr/>
          <p:nvPr/>
        </p:nvSpPr>
        <p:spPr>
          <a:xfrm>
            <a:off x="1952834" y="1779662"/>
            <a:ext cx="2952332" cy="2997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for(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起始式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;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條件式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;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步進式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){//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區塊內敘述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448903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6CEC22-97A8-4810-83F6-691E15D21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+mn-ea"/>
              </a:rPr>
              <a:t>for</a:t>
            </a:r>
            <a:r>
              <a:rPr lang="zh-TW" altLang="en-US" sz="2800" dirty="0">
                <a:latin typeface="+mn-ea"/>
              </a:rPr>
              <a:t>迴圈敘述</a:t>
            </a:r>
            <a:endParaRPr lang="zh-TW" altLang="en-US" sz="2800" dirty="0">
              <a:latin typeface="+mn-ea"/>
              <a:ea typeface="+mn-ea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B6BC3A-6648-4E20-B91E-ED4221927D2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sz="1800" dirty="0">
              <a:latin typeface="+mn-ea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2E78053-5D58-4079-8F85-19DEDFD50A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D2C3F77-BD0D-4AB7-B93D-EEDF665641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E9C091-5EB1-424B-9B08-857EA11AC292}"/>
              </a:ext>
            </a:extLst>
          </p:cNvPr>
          <p:cNvSpPr/>
          <p:nvPr/>
        </p:nvSpPr>
        <p:spPr>
          <a:xfrm>
            <a:off x="692696" y="2565797"/>
            <a:ext cx="3528392" cy="13906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for (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= 1;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&lt;= 5;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++) {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document.write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("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整數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: " +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+ "&lt;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br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/&gt;"); 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intSum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+=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; 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}    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document.write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("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總和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: " +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intSum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+ "&lt;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br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/&gt;");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00C63F4-F221-4CF9-8035-C8C5C5F2E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136" y="2024473"/>
            <a:ext cx="1161608" cy="184342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8922FE7-3CF1-4524-9982-5499FEE237C0}"/>
              </a:ext>
            </a:extLst>
          </p:cNvPr>
          <p:cNvSpPr/>
          <p:nvPr/>
        </p:nvSpPr>
        <p:spPr>
          <a:xfrm>
            <a:off x="692696" y="2024473"/>
            <a:ext cx="3528392" cy="2997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for(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起始式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;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條件式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;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步進式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){//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區塊內敘述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5293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6CEC22-97A8-4810-83F6-691E15D21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+mn-ea"/>
              </a:rPr>
              <a:t>while</a:t>
            </a:r>
            <a:r>
              <a:rPr lang="zh-TW" altLang="en-US" sz="2800" dirty="0">
                <a:latin typeface="+mn-ea"/>
              </a:rPr>
              <a:t>迴圈敘述</a:t>
            </a:r>
            <a:endParaRPr lang="zh-TW" altLang="en-US" sz="2800" dirty="0">
              <a:latin typeface="+mn-ea"/>
              <a:ea typeface="+mn-ea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B6BC3A-6648-4E20-B91E-ED4221927D2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sz="1600" dirty="0">
                <a:latin typeface="+mn-ea"/>
              </a:rPr>
              <a:t>while</a:t>
            </a:r>
            <a:r>
              <a:rPr lang="zh-TW" altLang="en-US" sz="1600" dirty="0">
                <a:latin typeface="+mn-ea"/>
              </a:rPr>
              <a:t>迴圈敘述需要自行在程式區塊內處理計數器的增減，迴圈是在開頭檢查結束條件，如果條件</a:t>
            </a:r>
            <a:r>
              <a:rPr lang="en-US" altLang="zh-TW" sz="1600" dirty="0">
                <a:latin typeface="+mn-ea"/>
              </a:rPr>
              <a:t>true</a:t>
            </a:r>
            <a:r>
              <a:rPr lang="zh-TW" altLang="en-US" sz="1600" dirty="0">
                <a:latin typeface="+mn-ea"/>
              </a:rPr>
              <a:t>才能夠進入迴圈；</a:t>
            </a:r>
            <a:r>
              <a:rPr lang="en-US" altLang="zh-TW" sz="1600" dirty="0">
                <a:latin typeface="+mn-ea"/>
              </a:rPr>
              <a:t>false</a:t>
            </a:r>
            <a:r>
              <a:rPr lang="zh-TW" altLang="en-US" sz="1600" dirty="0">
                <a:latin typeface="+mn-ea"/>
              </a:rPr>
              <a:t>離開迴圈</a:t>
            </a:r>
            <a:endParaRPr lang="en-US" altLang="zh-TW" sz="1600" dirty="0">
              <a:latin typeface="+mn-ea"/>
            </a:endParaRPr>
          </a:p>
          <a:p>
            <a:r>
              <a:rPr lang="zh-TW" altLang="en-US" sz="1600" dirty="0">
                <a:latin typeface="+mn-ea"/>
              </a:rPr>
              <a:t>與</a:t>
            </a:r>
            <a:r>
              <a:rPr lang="en-US" altLang="zh-TW" sz="1600" dirty="0">
                <a:latin typeface="+mn-ea"/>
              </a:rPr>
              <a:t>for</a:t>
            </a:r>
            <a:r>
              <a:rPr lang="zh-TW" altLang="en-US" sz="1600" dirty="0">
                <a:latin typeface="+mn-ea"/>
              </a:rPr>
              <a:t>迴圈不同的地方</a:t>
            </a:r>
            <a:r>
              <a:rPr lang="en-US" altLang="zh-TW" sz="1600" dirty="0">
                <a:latin typeface="+mn-ea"/>
              </a:rPr>
              <a:t/>
            </a:r>
            <a:br>
              <a:rPr lang="en-US" altLang="zh-TW" sz="1600" dirty="0">
                <a:latin typeface="+mn-ea"/>
              </a:rPr>
            </a:br>
            <a:r>
              <a:rPr lang="zh-TW" altLang="en-US" sz="1600" dirty="0">
                <a:latin typeface="+mn-ea"/>
              </a:rPr>
              <a:t>起始式可放在程式之前</a:t>
            </a:r>
            <a:r>
              <a:rPr lang="en-US" altLang="zh-TW" sz="1600" dirty="0">
                <a:latin typeface="+mn-ea"/>
              </a:rPr>
              <a:t/>
            </a:r>
            <a:br>
              <a:rPr lang="en-US" altLang="zh-TW" sz="1600" dirty="0">
                <a:latin typeface="+mn-ea"/>
              </a:rPr>
            </a:br>
            <a:r>
              <a:rPr lang="zh-TW" altLang="en-US" sz="1600" dirty="0">
                <a:latin typeface="+mn-ea"/>
              </a:rPr>
              <a:t>步進式則放在區塊敘述最後面</a:t>
            </a:r>
          </a:p>
          <a:p>
            <a:endParaRPr lang="zh-TW" altLang="en-US" sz="1600" dirty="0">
              <a:latin typeface="+mn-ea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2E78053-5D58-4079-8F85-19DEDFD50A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D2C3F77-BD0D-4AB7-B93D-EEDF665641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E9C091-5EB1-424B-9B08-857EA11AC292}"/>
              </a:ext>
            </a:extLst>
          </p:cNvPr>
          <p:cNvSpPr/>
          <p:nvPr/>
        </p:nvSpPr>
        <p:spPr>
          <a:xfrm>
            <a:off x="764704" y="3785269"/>
            <a:ext cx="3080341" cy="91537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j=0;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while(j &lt;= 4) {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document.write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("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整數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: " + j + "&lt;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br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/&gt;");   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j++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;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}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07AB8A2-72BE-43FC-8960-17AE76F56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359" y="2821148"/>
            <a:ext cx="1222788" cy="192824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0F5FA11-30A4-4358-9541-40D45762B5AB}"/>
              </a:ext>
            </a:extLst>
          </p:cNvPr>
          <p:cNvSpPr/>
          <p:nvPr/>
        </p:nvSpPr>
        <p:spPr>
          <a:xfrm>
            <a:off x="764704" y="2818618"/>
            <a:ext cx="3080341" cy="91537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//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起始式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while(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條件式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){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	//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區塊內敘述</a:t>
            </a:r>
          </a:p>
          <a:p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	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//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步進式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734376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6CEC22-97A8-4810-83F6-691E15D21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+mn-ea"/>
              </a:rPr>
              <a:t>do/while</a:t>
            </a:r>
            <a:r>
              <a:rPr lang="zh-TW" altLang="en-US" sz="2800" dirty="0">
                <a:latin typeface="+mn-ea"/>
              </a:rPr>
              <a:t>迴圈敘述</a:t>
            </a:r>
            <a:endParaRPr lang="zh-TW" altLang="en-US" sz="2800" dirty="0">
              <a:latin typeface="+mn-ea"/>
              <a:ea typeface="+mn-ea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B6BC3A-6648-4E20-B91E-ED4221927D2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sz="1800" dirty="0">
                <a:latin typeface="+mn-ea"/>
              </a:rPr>
              <a:t>常用的 </a:t>
            </a:r>
            <a:r>
              <a:rPr lang="en-US" altLang="zh-TW" sz="1800" dirty="0">
                <a:latin typeface="+mn-ea"/>
              </a:rPr>
              <a:t>JavaScript while </a:t>
            </a:r>
            <a:r>
              <a:rPr lang="zh-TW" altLang="en-US" sz="1800" dirty="0">
                <a:latin typeface="+mn-ea"/>
              </a:rPr>
              <a:t>迴圈是先判斷條件才執行，而 </a:t>
            </a:r>
            <a:r>
              <a:rPr lang="en-US" altLang="zh-TW" sz="1800" dirty="0">
                <a:latin typeface="+mn-ea"/>
              </a:rPr>
              <a:t>do while </a:t>
            </a:r>
            <a:r>
              <a:rPr lang="zh-TW" altLang="en-US" sz="1800" dirty="0">
                <a:latin typeface="+mn-ea"/>
              </a:rPr>
              <a:t>則是先執行後判斷條件，可以用來執行重覆性的工作項目。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2E78053-5D58-4079-8F85-19DEDFD50A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D2C3F77-BD0D-4AB7-B93D-EEDF665641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E9C091-5EB1-424B-9B08-857EA11AC292}"/>
              </a:ext>
            </a:extLst>
          </p:cNvPr>
          <p:cNvSpPr/>
          <p:nvPr/>
        </p:nvSpPr>
        <p:spPr>
          <a:xfrm>
            <a:off x="3243502" y="2113311"/>
            <a:ext cx="3224357" cy="97653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=0;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do{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　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document.write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("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整數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: " +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+ "&lt;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br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/&gt;");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　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++;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}while(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&lt;6);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83B52FD-4BFD-456C-977F-AE983F0BD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112" y="3209925"/>
            <a:ext cx="733425" cy="136207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6BD8E08-50AB-4607-8620-F545C02451B0}"/>
              </a:ext>
            </a:extLst>
          </p:cNvPr>
          <p:cNvSpPr/>
          <p:nvPr/>
        </p:nvSpPr>
        <p:spPr>
          <a:xfrm>
            <a:off x="763591" y="2107184"/>
            <a:ext cx="2321442" cy="9765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do{	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  //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區塊內敘述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  //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步進式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}while(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條件式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5996762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6CEC22-97A8-4810-83F6-691E15D21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>
                <a:latin typeface="+mn-ea"/>
              </a:rPr>
              <a:t>跳出迴圈</a:t>
            </a:r>
            <a:r>
              <a:rPr lang="en-US" altLang="zh-TW" sz="2800" dirty="0">
                <a:latin typeface="+mn-ea"/>
              </a:rPr>
              <a:t>-break</a:t>
            </a:r>
            <a:endParaRPr lang="zh-TW" altLang="en-US" sz="2800" dirty="0">
              <a:latin typeface="+mn-ea"/>
              <a:ea typeface="+mn-ea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B6BC3A-6648-4E20-B91E-ED4221927D2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sz="1800" dirty="0">
                <a:latin typeface="+mn-ea"/>
              </a:rPr>
              <a:t>當某些條件成立時，可以使用</a:t>
            </a:r>
            <a:r>
              <a:rPr lang="en-US" altLang="zh-TW" sz="1800" dirty="0">
                <a:latin typeface="+mn-ea"/>
              </a:rPr>
              <a:t>break</a:t>
            </a:r>
            <a:r>
              <a:rPr lang="zh-TW" altLang="en-US" sz="1800" dirty="0">
                <a:latin typeface="+mn-ea"/>
              </a:rPr>
              <a:t>關鍵字強迫終止迴圈的執行，如同</a:t>
            </a:r>
            <a:r>
              <a:rPr lang="en-US" altLang="zh-TW" sz="1800" dirty="0">
                <a:latin typeface="+mn-ea"/>
              </a:rPr>
              <a:t>switch</a:t>
            </a:r>
            <a:r>
              <a:rPr lang="zh-TW" altLang="en-US" sz="1800" dirty="0">
                <a:latin typeface="+mn-ea"/>
              </a:rPr>
              <a:t>條件使用</a:t>
            </a:r>
            <a:r>
              <a:rPr lang="en-US" altLang="zh-TW" sz="1800" dirty="0">
                <a:latin typeface="+mn-ea"/>
              </a:rPr>
              <a:t>break</a:t>
            </a:r>
            <a:r>
              <a:rPr lang="zh-TW" altLang="en-US" sz="1800" dirty="0">
                <a:latin typeface="+mn-ea"/>
              </a:rPr>
              <a:t>關鍵字跳出程式區塊</a:t>
            </a:r>
            <a:endParaRPr lang="en-US" altLang="zh-TW" sz="1800" dirty="0">
              <a:latin typeface="+mn-ea"/>
            </a:endParaRPr>
          </a:p>
          <a:p>
            <a:r>
              <a:rPr lang="zh-TW" altLang="en-US" sz="1800" dirty="0"/>
              <a:t>範例：當列印至</a:t>
            </a:r>
            <a:r>
              <a:rPr lang="en-US" altLang="zh-TW" sz="1800" dirty="0"/>
              <a:t>3</a:t>
            </a:r>
            <a:r>
              <a:rPr lang="zh-TW" altLang="en-US" sz="1800" dirty="0"/>
              <a:t>時則跳出迴圈</a:t>
            </a:r>
          </a:p>
          <a:p>
            <a:endParaRPr lang="zh-TW" altLang="en-US" sz="1800" dirty="0">
              <a:latin typeface="+mn-ea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2E78053-5D58-4079-8F85-19DEDFD50A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D2C3F77-BD0D-4AB7-B93D-EEDF665641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E9C091-5EB1-424B-9B08-857EA11AC292}"/>
              </a:ext>
            </a:extLst>
          </p:cNvPr>
          <p:cNvSpPr/>
          <p:nvPr/>
        </p:nvSpPr>
        <p:spPr>
          <a:xfrm>
            <a:off x="852715" y="2275694"/>
            <a:ext cx="5328591" cy="13681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=0;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while (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&lt; 6) {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if (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== 3)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break;   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++;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}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document.write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("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整數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: " +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+ "&lt;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br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/&gt;");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31CD857-8D11-40C7-B74C-954C0C9F1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337" y="3929596"/>
            <a:ext cx="6953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6129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6CEC22-97A8-4810-83F6-691E15D21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>
                <a:latin typeface="+mn-ea"/>
              </a:rPr>
              <a:t>繼續迴圈</a:t>
            </a:r>
            <a:r>
              <a:rPr lang="en-US" altLang="zh-TW" sz="2800" dirty="0">
                <a:latin typeface="+mn-ea"/>
              </a:rPr>
              <a:t>-continue</a:t>
            </a:r>
            <a:endParaRPr lang="zh-TW" altLang="en-US" sz="2800" dirty="0">
              <a:latin typeface="+mn-ea"/>
              <a:ea typeface="+mn-ea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B6BC3A-6648-4E20-B91E-ED4221927D2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sz="1600" dirty="0">
                <a:latin typeface="+mn-ea"/>
              </a:rPr>
              <a:t>continue</a:t>
            </a:r>
            <a:r>
              <a:rPr lang="zh-TW" altLang="en-US" sz="1600" dirty="0">
                <a:latin typeface="+mn-ea"/>
              </a:rPr>
              <a:t>關鍵字可以馬上繼續下一次迴圈的執行，不過，它並不會執行程式區塊中位在</a:t>
            </a:r>
            <a:r>
              <a:rPr lang="en-US" altLang="zh-TW" sz="1600" dirty="0">
                <a:latin typeface="+mn-ea"/>
              </a:rPr>
              <a:t>continue</a:t>
            </a:r>
            <a:r>
              <a:rPr lang="zh-TW" altLang="en-US" sz="1600" dirty="0">
                <a:latin typeface="+mn-ea"/>
              </a:rPr>
              <a:t>關鍵字之後的程式碼</a:t>
            </a:r>
            <a:endParaRPr lang="en-US" altLang="zh-TW" sz="1600" dirty="0">
              <a:latin typeface="+mn-ea"/>
            </a:endParaRPr>
          </a:p>
          <a:p>
            <a:r>
              <a:rPr lang="zh-TW" altLang="en-US" sz="1600" dirty="0">
                <a:latin typeface="+mn-ea"/>
              </a:rPr>
              <a:t>範例</a:t>
            </a:r>
            <a:r>
              <a:rPr lang="en-US" altLang="zh-TW" sz="1600" dirty="0">
                <a:latin typeface="+mn-ea"/>
              </a:rPr>
              <a:t>:</a:t>
            </a:r>
            <a:r>
              <a:rPr lang="en-US" altLang="zh-TW" sz="1600" dirty="0" err="1">
                <a:latin typeface="+mn-ea"/>
              </a:rPr>
              <a:t>i</a:t>
            </a:r>
            <a:r>
              <a:rPr lang="en-US" altLang="zh-TW" sz="1600" dirty="0">
                <a:latin typeface="+mn-ea"/>
              </a:rPr>
              <a:t>==3</a:t>
            </a:r>
            <a:r>
              <a:rPr lang="zh-TW" altLang="en-US" sz="1600" dirty="0">
                <a:latin typeface="+mn-ea"/>
              </a:rPr>
              <a:t>時，繼續下一次迴圈執行，所以</a:t>
            </a:r>
            <a:r>
              <a:rPr lang="en-US" altLang="zh-TW" sz="1600" dirty="0">
                <a:latin typeface="+mn-ea"/>
              </a:rPr>
              <a:t>3</a:t>
            </a:r>
            <a:r>
              <a:rPr lang="zh-TW" altLang="en-US" sz="1600" dirty="0">
                <a:latin typeface="+mn-ea"/>
              </a:rPr>
              <a:t>沒有被印出。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2E78053-5D58-4079-8F85-19DEDFD50A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D2C3F77-BD0D-4AB7-B93D-EEDF665641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E9C091-5EB1-424B-9B08-857EA11AC292}"/>
              </a:ext>
            </a:extLst>
          </p:cNvPr>
          <p:cNvSpPr/>
          <p:nvPr/>
        </p:nvSpPr>
        <p:spPr>
          <a:xfrm>
            <a:off x="852715" y="2171182"/>
            <a:ext cx="5328591" cy="13681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=0;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for (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= 0;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&lt; 5;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++) {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if (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== 3) { 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    continue; 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}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document.write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("</a:t>
            </a:r>
            <a:r>
              <a:rPr lang="zh-TW" altLang="en-US" sz="1200" dirty="0">
                <a:solidFill>
                  <a:schemeClr val="tx1"/>
                </a:solidFill>
                <a:latin typeface="+mn-ea"/>
              </a:rPr>
              <a:t>整數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: " +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+ "&lt;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br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/&gt;"); 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}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F1FD235-31BA-4A1F-A44F-A766348B2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862" y="3682209"/>
            <a:ext cx="676275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2641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6CEC22-97A8-4810-83F6-691E15D21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>
                <a:latin typeface="+mn-ea"/>
              </a:rPr>
              <a:t>巢狀迴圈</a:t>
            </a:r>
            <a:endParaRPr lang="zh-TW" altLang="en-US" sz="2800" dirty="0">
              <a:latin typeface="+mn-ea"/>
              <a:ea typeface="+mn-ea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B6BC3A-6648-4E20-B91E-ED4221927D2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sz="1800" dirty="0">
                <a:latin typeface="+mn-ea"/>
              </a:rPr>
              <a:t>巢狀迴圈是指在迴圈之中擁有其他迴圈，例如：在</a:t>
            </a:r>
            <a:r>
              <a:rPr lang="en-US" altLang="zh-TW" sz="1800" dirty="0">
                <a:latin typeface="+mn-ea"/>
              </a:rPr>
              <a:t>for</a:t>
            </a:r>
            <a:r>
              <a:rPr lang="zh-TW" altLang="en-US" sz="1800" dirty="0">
                <a:latin typeface="+mn-ea"/>
              </a:rPr>
              <a:t>迴圈之中擁有</a:t>
            </a:r>
            <a:r>
              <a:rPr lang="en-US" altLang="zh-TW" sz="1800" dirty="0">
                <a:latin typeface="+mn-ea"/>
              </a:rPr>
              <a:t>for</a:t>
            </a:r>
            <a:r>
              <a:rPr lang="zh-TW" altLang="en-US" sz="1800" dirty="0">
                <a:latin typeface="+mn-ea"/>
              </a:rPr>
              <a:t>、</a:t>
            </a:r>
            <a:r>
              <a:rPr lang="en-US" altLang="zh-TW" sz="1800" dirty="0">
                <a:latin typeface="+mn-ea"/>
              </a:rPr>
              <a:t>while</a:t>
            </a:r>
            <a:r>
              <a:rPr lang="zh-TW" altLang="en-US" sz="1800" dirty="0">
                <a:latin typeface="+mn-ea"/>
              </a:rPr>
              <a:t>或</a:t>
            </a:r>
            <a:r>
              <a:rPr lang="en-US" altLang="zh-TW" sz="1800" dirty="0">
                <a:latin typeface="+mn-ea"/>
              </a:rPr>
              <a:t>do/while</a:t>
            </a:r>
            <a:r>
              <a:rPr lang="zh-TW" altLang="en-US" sz="1800" dirty="0">
                <a:latin typeface="+mn-ea"/>
              </a:rPr>
              <a:t>迴圈。</a:t>
            </a:r>
            <a:endParaRPr lang="en-US" altLang="zh-TW" sz="1800" dirty="0">
              <a:latin typeface="+mn-ea"/>
            </a:endParaRPr>
          </a:p>
          <a:p>
            <a:r>
              <a:rPr lang="zh-TW" altLang="en-US" sz="1800" dirty="0">
                <a:latin typeface="+mn-ea"/>
              </a:rPr>
              <a:t>通常巢狀的</a:t>
            </a:r>
            <a:r>
              <a:rPr lang="en-US" altLang="zh-TW" sz="1800" dirty="0">
                <a:latin typeface="+mn-ea"/>
              </a:rPr>
              <a:t>for</a:t>
            </a:r>
            <a:r>
              <a:rPr lang="zh-TW" altLang="en-US" sz="1800" dirty="0">
                <a:latin typeface="+mn-ea"/>
              </a:rPr>
              <a:t>迴圈可運用在二維平面的運用</a:t>
            </a:r>
          </a:p>
          <a:p>
            <a:endParaRPr lang="zh-TW" altLang="en-US" sz="1800" dirty="0">
              <a:latin typeface="+mn-ea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2E78053-5D58-4079-8F85-19DEDFD50A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D2C3F77-BD0D-4AB7-B93D-EEDF665641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C77844F-7762-4DB4-A791-6429F9007D1D}"/>
              </a:ext>
            </a:extLst>
          </p:cNvPr>
          <p:cNvSpPr/>
          <p:nvPr/>
        </p:nvSpPr>
        <p:spPr>
          <a:xfrm>
            <a:off x="764704" y="2355726"/>
            <a:ext cx="5328591" cy="18722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var i,j,r3="";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for(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=1;i&lt;10;i++){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j=1;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while(j&lt;10){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    r3 +=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+"*"+j+"="+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*j+" ";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j++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;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}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r3+="&lt;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br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/&gt;";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}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zh-TW" sz="1200" dirty="0" err="1">
                <a:solidFill>
                  <a:schemeClr val="tx1"/>
                </a:solidFill>
                <a:latin typeface="+mn-ea"/>
              </a:rPr>
              <a:t>document.write</a:t>
            </a:r>
            <a:r>
              <a:rPr lang="en-US" altLang="zh-TW" sz="1200" dirty="0">
                <a:solidFill>
                  <a:schemeClr val="tx1"/>
                </a:solidFill>
                <a:latin typeface="+mn-ea"/>
              </a:rPr>
              <a:t>(r3);</a:t>
            </a:r>
          </a:p>
        </p:txBody>
      </p:sp>
    </p:spTree>
    <p:extLst>
      <p:ext uri="{BB962C8B-B14F-4D97-AF65-F5344CB8AC3E}">
        <p14:creationId xmlns:p14="http://schemas.microsoft.com/office/powerpoint/2010/main" val="22469410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6CEC22-97A8-4810-83F6-691E15D21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>
                <a:latin typeface="+mn-ea"/>
              </a:rPr>
              <a:t>巢狀迴圈</a:t>
            </a:r>
            <a:endParaRPr lang="zh-TW" altLang="en-US" sz="2800" dirty="0">
              <a:latin typeface="+mn-ea"/>
              <a:ea typeface="+mn-ea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2E78053-5D58-4079-8F85-19DEDFD50A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D2C3F77-BD0D-4AB7-B93D-EEDF665641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1CC6D6F-1A2A-4892-9886-4E5D38D6A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92" y="1779662"/>
            <a:ext cx="6291044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001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81DB80-48AE-4890-8209-A6CE600BE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+mj-ea"/>
              </a:rPr>
              <a:t>Lab02-</a:t>
            </a:r>
            <a:r>
              <a:rPr lang="zh-TW" altLang="en-US" sz="2800" dirty="0">
                <a:latin typeface="+mj-ea"/>
              </a:rPr>
              <a:t>數字加總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D9DE30-D5F2-47AF-8200-3D92F4BED8A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利用</a:t>
            </a:r>
            <a:r>
              <a:rPr lang="en-US" altLang="zh-TW" dirty="0"/>
              <a:t>for</a:t>
            </a:r>
            <a:r>
              <a:rPr lang="zh-TW" altLang="en-US" dirty="0"/>
              <a:t>迴圈來進行加總</a:t>
            </a:r>
            <a:endParaRPr lang="en-US" altLang="zh-TW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F63674D-5DCD-4E2E-B720-881EC85F9A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1741B2B-FD17-42B8-ADCB-92316F6B9A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D174764-FF59-4CDC-A455-5846F1C41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1695450"/>
            <a:ext cx="43434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7920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81DB80-48AE-4890-8209-A6CE600BE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+mj-ea"/>
              </a:rPr>
              <a:t>Lab02-</a:t>
            </a:r>
            <a:r>
              <a:rPr lang="zh-TW" altLang="en-US" sz="2800" dirty="0">
                <a:latin typeface="+mj-ea"/>
              </a:rPr>
              <a:t>數字加總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F63674D-5DCD-4E2E-B720-881EC85F9A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1741B2B-FD17-42B8-ADCB-92316F6B9A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85D9F53-0C48-4D3D-A7F4-956D360B9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760" y="1801814"/>
            <a:ext cx="4437112" cy="153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0207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81DB80-48AE-4890-8209-A6CE600BE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+mj-ea"/>
              </a:rPr>
              <a:t>Lab03-</a:t>
            </a:r>
            <a:r>
              <a:rPr lang="zh-TW" altLang="en-US" sz="2800" dirty="0">
                <a:latin typeface="+mj-ea"/>
              </a:rPr>
              <a:t>直角三角形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D9DE30-D5F2-47AF-8200-3D92F4BED8A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利用巢狀</a:t>
            </a:r>
            <a:r>
              <a:rPr lang="en-US" altLang="zh-TW" dirty="0"/>
              <a:t>for</a:t>
            </a:r>
            <a:r>
              <a:rPr lang="zh-TW" altLang="en-US" dirty="0"/>
              <a:t>迴圈來製作直角三角形</a:t>
            </a:r>
            <a:endParaRPr lang="en-US" altLang="zh-TW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F63674D-5DCD-4E2E-B720-881EC85F9A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1741B2B-FD17-42B8-ADCB-92316F6B9A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FBD4B0E-42B4-4AA1-ACF8-4EA979B86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1977232"/>
            <a:ext cx="4305300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4346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81DB80-48AE-4890-8209-A6CE600BE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>
                <a:latin typeface="+mj-ea"/>
              </a:rPr>
              <a:t>Lab03-</a:t>
            </a:r>
            <a:r>
              <a:rPr lang="zh-TW" altLang="en-US" sz="2800" dirty="0">
                <a:latin typeface="+mj-ea"/>
              </a:rPr>
              <a:t>直角三角形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F63674D-5DCD-4E2E-B720-881EC85F9A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1741B2B-FD17-42B8-ADCB-92316F6B9A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85BBC92-148D-4EA7-A690-47A61D9CF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36" y="1611141"/>
            <a:ext cx="4941168" cy="192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0064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Lab教學用">
  <a:themeElements>
    <a:clrScheme name="中庸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中庸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中庸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ab教學用" id="{EB944EAC-5C47-4CDA-AF4C-F071AD6F8022}" vid="{34C89FF1-FF8F-49D0-8EFD-BCAD4B2623C7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中庸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3487</TotalTime>
  <Words>1927</Words>
  <Application>Microsoft Office PowerPoint</Application>
  <PresentationFormat>自訂</PresentationFormat>
  <Paragraphs>285</Paragraphs>
  <Slides>32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41" baseType="lpstr">
      <vt:lpstr>微軟正黑體</vt:lpstr>
      <vt:lpstr>新細明體</vt:lpstr>
      <vt:lpstr>Calibri</vt:lpstr>
      <vt:lpstr>Candara</vt:lpstr>
      <vt:lpstr>Times New Roman</vt:lpstr>
      <vt:lpstr>Tw Cen MT</vt:lpstr>
      <vt:lpstr>Wingdings</vt:lpstr>
      <vt:lpstr>Wingdings 2</vt:lpstr>
      <vt:lpstr>Lab教學用</vt:lpstr>
      <vt:lpstr>流程控制</vt:lpstr>
      <vt:lpstr>流程控制的基礎</vt:lpstr>
      <vt:lpstr>基礎說明</vt:lpstr>
      <vt:lpstr>基礎說明</vt:lpstr>
      <vt:lpstr>循序結構（Sequential）</vt:lpstr>
      <vt:lpstr>選擇結構（Selection）</vt:lpstr>
      <vt:lpstr>重複結構（Iteration）</vt:lpstr>
      <vt:lpstr>邏輯與比較運算子 </vt:lpstr>
      <vt:lpstr>比較運算子</vt:lpstr>
      <vt:lpstr>邏輯運算子</vt:lpstr>
      <vt:lpstr>條件判斷 </vt:lpstr>
      <vt:lpstr>if單選條件敘述</vt:lpstr>
      <vt:lpstr>if/else二選一條件敘述</vt:lpstr>
      <vt:lpstr>if/else多選一條件敘述</vt:lpstr>
      <vt:lpstr>if/else多選一條件敘述</vt:lpstr>
      <vt:lpstr>switch多選一條件敘述</vt:lpstr>
      <vt:lpstr>Lab01-判斷成績</vt:lpstr>
      <vt:lpstr>Lab01-判斷成績</vt:lpstr>
      <vt:lpstr>Lab01-判斷成績</vt:lpstr>
      <vt:lpstr>迴圈控制</vt:lpstr>
      <vt:lpstr>for迴圈敘述</vt:lpstr>
      <vt:lpstr>for迴圈敘述</vt:lpstr>
      <vt:lpstr>while迴圈敘述</vt:lpstr>
      <vt:lpstr>do/while迴圈敘述</vt:lpstr>
      <vt:lpstr>跳出迴圈-break</vt:lpstr>
      <vt:lpstr>繼續迴圈-continue</vt:lpstr>
      <vt:lpstr>巢狀迴圈</vt:lpstr>
      <vt:lpstr>巢狀迴圈</vt:lpstr>
      <vt:lpstr>Lab02-數字加總</vt:lpstr>
      <vt:lpstr>Lab02-數字加總</vt:lpstr>
      <vt:lpstr>Lab03-直角三角形</vt:lpstr>
      <vt:lpstr>Lab03-直角三角形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型態、變數與運算子_邏輯分析與程式設計_20200318</dc:title>
  <dc:creator>iued</dc:creator>
  <cp:lastModifiedBy>智智</cp:lastModifiedBy>
  <cp:revision>297</cp:revision>
  <dcterms:created xsi:type="dcterms:W3CDTF">2014-10-01T05:36:32Z</dcterms:created>
  <dcterms:modified xsi:type="dcterms:W3CDTF">2021-03-07T13:52:29Z</dcterms:modified>
</cp:coreProperties>
</file>